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42B"/>
                </a:solidFill>
                <a:latin typeface="Calibri"/>
              </a:defRPr>
            </a:pPr>
            <a:r>
              <a:rPr sz="1300" b="0" i="0" u="none" strike="noStrike">
                <a:solidFill>
                  <a:srgbClr val="14342B"/>
                </a:solidFill>
                <a:latin typeface="Calibri"/>
              </a:rPr>
              <a:t>Queries by complexity</a:t>
            </a:r>
          </a:p>
        </c:rich>
      </c:tx>
      <c:layout/>
      <c:overlay val="0"/>
    </c:title>
    <c:autoTitleDeleted val="0"/>
    <c:plotArea>
      <c:layout/>
      <c:barChart>
        <c:barDir val="bar"/>
        <c:grouping val="clustered"/>
        <c:varyColors val="0"/>
        <c:ser>
          <c:idx val="0"/>
          <c:order val="0"/>
          <c:tx>
            <c:strRef>
              <c:f>Sheet1!$B$1</c:f>
              <c:strCache>
                <c:ptCount val="1"/>
                <c:pt idx="0">
                  <c:v>Queries</c:v>
                </c:pt>
              </c:strCache>
            </c:strRef>
          </c:tx>
          <c:spPr>
            <a:solidFill>
              <a:srgbClr val="1F6B4A"/>
            </a:solidFill>
            <a:effectLst/>
          </c:spPr>
          <c:invertIfNegative val="0"/>
          <c:dLbls>
            <c:numFmt formatCode="#,##0" sourceLinked="0"/>
            <c:txPr>
              <a:bodyPr/>
              <a:lstStyle/>
              <a:p>
                <a:pPr>
                  <a:defRPr b="0" i="0" strike="noStrike" sz="1200" u="none">
                    <a:solidFill>
                      <a:srgbClr val="14342B"/>
                    </a:solidFill>
                    <a:latin typeface="Arial"/>
                  </a:defRPr>
                </a:pPr>
              </a:p>
            </c:txPr>
            <c:showLegendKey val="0"/>
            <c:showVal val="1"/>
            <c:showCatName val="0"/>
            <c:showSerName val="0"/>
            <c:showPercent val="0"/>
            <c:showBubbleSize val="0"/>
            <c:showLeaderLines val="0"/>
          </c:dLbls>
          <c:cat>
            <c:multiLvlStrRef>
              <c:f>Sheet1!$A$2:$A$4</c:f>
              <c:multiLvlStrCache>
                <c:ptCount val="3"/>
                <c:lvl>
                  <c:pt idx="0">
                    <c:v>Advanced / analytical</c:v>
                  </c:pt>
                  <c:pt idx="1">
                    <c:v>Aggregation &amp; filtering</c:v>
                  </c:pt>
                  <c:pt idx="2">
                    <c:v>Basic lookups</c:v>
                  </c:pt>
                </c:lvl>
              </c:multiLvlStrCache>
            </c:multiLvlStrRef>
          </c:cat>
          <c:val>
            <c:numRef>
              <c:f>Sheet1!$B$2:$B$4</c:f>
              <c:numCache>
                <c:formatCode>General</c:formatCode>
                <c:ptCount val="3"/>
                <c:pt idx="0">
                  <c:v>8</c:v>
                </c:pt>
                <c:pt idx="1">
                  <c:v>8</c:v>
                </c:pt>
                <c:pt idx="2">
                  <c:v>4</c:v>
                </c:pt>
              </c:numCache>
            </c:numRef>
          </c:val>
        </c:ser>
        <c:dLbls>
          <c:numFmt formatCode="#,##0" sourceLinked="0"/>
          <c:txPr>
            <a:bodyPr/>
            <a:lstStyle/>
            <a:p>
              <a:pPr>
                <a:defRPr b="0" i="0" strike="noStrike" sz="1200" u="none">
                  <a:solidFill>
                    <a:srgbClr val="1434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A26"/>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42B"/>
                </a:solidFill>
                <a:latin typeface="Calibri"/>
              </a:defRPr>
            </a:pPr>
            <a:r>
              <a:rPr sz="1300" b="0" i="0" u="none" strike="noStrike">
                <a:solidFill>
                  <a:srgbClr val="14342B"/>
                </a:solidFill>
                <a:latin typeface="Calibri"/>
              </a:rPr>
              <a:t>Net tonnage collected by zone (Query 7)</a:t>
            </a:r>
          </a:p>
        </c:rich>
      </c:tx>
      <c:layout/>
      <c:overlay val="0"/>
    </c:title>
    <c:autoTitleDeleted val="0"/>
    <c:plotArea>
      <c:layout/>
      <c:barChart>
        <c:barDir val="col"/>
        <c:grouping val="clustered"/>
        <c:varyColors val="0"/>
        <c:ser>
          <c:idx val="0"/>
          <c:order val="0"/>
          <c:tx>
            <c:strRef>
              <c:f>Sheet1!$B$1</c:f>
              <c:strCache>
                <c:ptCount val="1"/>
                <c:pt idx="0">
                  <c:v>Tonnes</c:v>
                </c:pt>
              </c:strCache>
            </c:strRef>
          </c:tx>
          <c:spPr>
            <a:solidFill>
              <a:srgbClr val="1F6B4A"/>
            </a:solidFill>
            <a:effectLst/>
          </c:spPr>
          <c:invertIfNegative val="0"/>
          <c:dLbls>
            <c:numFmt formatCode="0.00" sourceLinked="0"/>
            <c:txPr>
              <a:bodyPr/>
              <a:lstStyle/>
              <a:p>
                <a:pPr>
                  <a:defRPr b="0" i="0" strike="noStrike" sz="1100" u="none">
                    <a:solidFill>
                      <a:srgbClr val="14342B"/>
                    </a:solidFill>
                    <a:latin typeface="Arial"/>
                  </a:defRPr>
                </a:pPr>
              </a:p>
            </c:txPr>
            <c:showLegendKey val="0"/>
            <c:showVal val="1"/>
            <c:showCatName val="0"/>
            <c:showSerName val="0"/>
            <c:showPercent val="0"/>
            <c:showBubbleSize val="0"/>
            <c:showLeaderLines val="0"/>
          </c:dLbls>
          <c:cat>
            <c:multiLvlStrRef>
              <c:f>Sheet1!$A$2:$A$6</c:f>
              <c:multiLvlStrCache>
                <c:ptCount val="5"/>
                <c:lvl>
                  <c:pt idx="0">
                    <c:v>East</c:v>
                  </c:pt>
                  <c:pt idx="1">
                    <c:v>North</c:v>
                  </c:pt>
                  <c:pt idx="2">
                    <c:v>West</c:v>
                  </c:pt>
                  <c:pt idx="3">
                    <c:v>South</c:v>
                  </c:pt>
                  <c:pt idx="4">
                    <c:v>Central</c:v>
                  </c:pt>
                </c:lvl>
              </c:multiLvlStrCache>
            </c:multiLvlStrRef>
          </c:cat>
          <c:val>
            <c:numRef>
              <c:f>Sheet1!$B$2:$B$6</c:f>
              <c:numCache>
                <c:formatCode>General</c:formatCode>
                <c:ptCount val="5"/>
                <c:pt idx="0">
                  <c:v>22.65</c:v>
                </c:pt>
                <c:pt idx="1">
                  <c:v>22.5</c:v>
                </c:pt>
                <c:pt idx="2">
                  <c:v>18.75</c:v>
                </c:pt>
                <c:pt idx="3">
                  <c:v>18.53</c:v>
                </c:pt>
                <c:pt idx="4">
                  <c:v>11.55</c:v>
                </c:pt>
              </c:numCache>
            </c:numRef>
          </c:val>
        </c:ser>
        <c:dLbls>
          <c:numFmt formatCode="0.00" sourceLinked="0"/>
          <c:txPr>
            <a:bodyPr/>
            <a:lstStyle/>
            <a:p>
              <a:pPr>
                <a:defRPr b="0" i="0" strike="noStrike" sz="1100" u="none">
                  <a:solidFill>
                    <a:srgbClr val="1434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2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in one line: we designed a relational database that tracks municipal waste from the collection point, through vehicles and collection records, to the recycling plant where it is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summary: the system tracks waste collection trips zone by zone, records weights at the weighbridge, allocates the waste to processing batches by material category, and gives zone-wise and material-wise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 seed records = 5 zones + 8 material categories + 7 vehicles + 10 drivers + 20 trips + 18 weighbridge tickets + 5 processing batches + 54 batch allocations. Data covers 14–18 September 2026, Delhi zones. Files: schema.sql, seed.sql, queries.sql, transactions.sql. Tools: PostgreSQL + VS Code PostgreSQL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VEHICLE and DRIVER feed into TRIP along with ZONE. MATERIAL_CATEGORY feeds into BATCH_ALLOCATION. BATCH_ALLOCATION is the junction table that resolves the many-to-many between weighbridge tickets and processing batches: one ticket can be split across materials/batches, and one batch holds many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Relationships: ZONE 1:N TRIP, VEHICLE 1:N TRIP, DRIVER 1:N TRIP, TRIP 1:1 WEIGHBRIDGE_TICKET (trip_id is UNIQUE in the ticket table), WEIGHBRIDGE_TICKET M:N PROCESSING_BATCH resolved by BATCH_ALLOCATION, MATERIAL_CATEGORY 1:N BATCH_ALLOCATION. TRIP has three foreign keys and is the central table of the collection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primary keys are SERIAL surrogate keys (faster joins, simple FK references). Candidate keys kept as UNIQUE: zone_name, material_name, vehicle_number, license_number. BATCH_ALLOCATION is the junction (associative) table for the M:N relationship. Every table also has created_at TIMESTAMP DEFAULT CURRENT_TIMESTAMP.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net_weight_kg is derived from gross − tare — isn't that redundant? Answer: yes, it is a derived attribute stored deliberately for fast filtering and indexing (idx_ticket_weight), and the CHECK constraint valid_net_weight guarantees it can never disagree with gross and tare. Also: transitive dependency example — trip_id → zone_id → zone_name. Anomalies avoided: insertion, update,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zone_name, material_name, vehicle_number, license_number, weighbridge_ticket.trip_id (makes trip:ticket 1:1), and the composite trip key. ON DELETE RESTRICT on TRIP: cannot delete a vehicle, driver or zone that still has trips. ON DELETE CASCADE on ticket and allocation: deleting a trip removes its ticket and allocations. CHECK examples: capacity_kg &gt; 0, tare &gt;= 0, status 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2 (net weight BETWEEN 4000 AND 6000) uses idx_ticket_weight. Show the plan with EXPLAIN ANALYZE. Note: PRIMARY KEY and UNIQUE columns already get an index automatically, so idx_vehicle_number, idx_driver_license, idx_zone_name and idx_ticket_trip duplicate existing unique indexes — if asked, admit they are redundant and could be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Q1 trips in North Zone by weight, Q4 distinct materials, Q12 vehicles with no trip, Q13 heavy tickets with CASE load category. Aggregation &amp; filtering: Q2 BETWEEN, Q3 LIKE pattern, Q5 top 5 with RANK, Q6 trips per vehicle, Q7 tonnage per zone, Q8 average load per driver, Q9 min/max per material, Q10 HAVING tonnage &gt; limit. Advanced: Q11 zone report with window COUNT, Q14 self-join drivers in same zone, Q15 batch utilization, Q16 drivers above average (CTE), Q17 above zone average (CTE), Q18 IN, Q19 NOT EXISTS, Q20 &gt;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totals: Organic 42.09 t, Plastic 21.65 t, Paper 13.21 t, Metal 7.80 t, Glass 4.20 t, Hazardous 2.83 t, Construction 2.20 t. Mixed Waste was never allocated, so it is what Query 19 (NOT EXISTS) returns. Net weights range from 3,500 kg to 8,000 kg. Each zone has 4 trips. Query 20 (&gt; ALL South Zone) returns 2 trips (8,000 kg and 7,750 kg).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4 transactions: T1 records a trip and its weighbridge ticket together. T2 allocates waste to batch 1 and updates its load. T3 (shown) is the full workflow: trip, ticket, allocation, batch update — if any step fails, ROLLBACK undoes all of them. T4 uses SAVEPOINT sp1 and ROLLBACK TO SAVEPOINT to undo only the license update for driver 7 while keeping the status change. Durability comes from PostgreSQL's Write-Ahead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batch allocation: SELECT ... FROM processing_batch WHERE batch_id = 4 FOR UPDATE, then UPDATE ... SET current_load_kg = current_load_kg + 1000 WHERE batch_id = 4 AND current_load_kg + 1000 &lt;= batch_capacity_kg. The lock stops two drivers overfilling the same batch. Deadlock: session 1 locks batch 1 then 2, session 2 locks 2 then 1 — PostgreSQL detects it and aborts one. Fix: consistent lock order. In PostgreSQL READ UNCOMMITTED behaves like READ COMMITTED, so dirty reads never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Q2 BETWEEN weight range, Q3 LIKE vehicle pattern, Q5 top 5 with RANK(), Q6 trips per vehicle, Q7 tonnage per zone, Q8 average load per driver, Q9 min/max/avg per material, Q10 HAVING. Be ready to explain WHERE vs HAVING and why LEFT JOIN is used in Q6–Q9 (to keep vehicles/drivers/materials with zero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limitations (from our docs): single plant only, manual batch assignment, fixed batch capacity, no real-time monitoring. Be ready for: DBMS vs RDBMS, DELETE vs TRUNCATE vs DROP, WHERE vs HAVING, what a view is, why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42B"/>
        </a:solidFill>
      </p:bgPr>
    </p:bg>
    <p:spTree>
      <p:nvGrpSpPr>
        <p:cNvPr id="1" name=""/>
        <p:cNvGrpSpPr/>
        <p:nvPr/>
      </p:nvGrpSpPr>
      <p:grpSpPr>
        <a:xfrm>
          <a:off x="0" y="0"/>
          <a:ext cx="0" cy="0"/>
          <a:chOff x="0" y="0"/>
          <a:chExt cx="0" cy="0"/>
        </a:xfrm>
      </p:grpSpPr>
      <p:sp>
        <p:nvSpPr>
          <p:cNvPr id="2" name="Shape 0"/>
          <p:cNvSpPr/>
          <p:nvPr/>
        </p:nvSpPr>
        <p:spPr>
          <a:xfrm>
            <a:off x="457200" y="502920"/>
            <a:ext cx="822960" cy="822960"/>
          </a:xfrm>
          <a:prstGeom prst="ellipse">
            <a:avLst/>
          </a:prstGeom>
          <a:solidFill>
            <a:srgbClr val="A8D84E"/>
          </a:solidFill>
          <a:ln w="12700">
            <a:solidFill>
              <a:srgbClr val="A8D84E"/>
            </a:solidFill>
            <a:prstDash val="solid"/>
          </a:ln>
        </p:spPr>
      </p:sp>
      <p:pic>
        <p:nvPicPr>
          <p:cNvPr id="3" name="Image 0" descr="preencoded.png">    </p:cNvPr>
          <p:cNvPicPr>
            <a:picLocks noChangeAspect="1"/>
          </p:cNvPicPr>
          <p:nvPr/>
        </p:nvPicPr>
        <p:blipFill>
          <a:blip r:embed="rId1"/>
          <a:stretch>
            <a:fillRect/>
          </a:stretch>
        </p:blipFill>
        <p:spPr>
          <a:xfrm>
            <a:off x="662940" y="708660"/>
            <a:ext cx="411480" cy="411480"/>
          </a:xfrm>
          <a:prstGeom prst="rect">
            <a:avLst/>
          </a:prstGeom>
        </p:spPr>
      </p:pic>
      <p:sp>
        <p:nvSpPr>
          <p:cNvPr id="4" name="Text 1"/>
          <p:cNvSpPr txBox="1"/>
          <p:nvPr/>
        </p:nvSpPr>
        <p:spPr>
          <a:xfrm>
            <a:off x="457200" y="1463040"/>
            <a:ext cx="8229600" cy="12801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Solid Waste Collection &amp;</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Recycling Plant Management System</a:t>
            </a:r>
            <a:endParaRPr lang="en-US" sz="3600" dirty="0"/>
          </a:p>
        </p:txBody>
      </p:sp>
      <p:sp>
        <p:nvSpPr>
          <p:cNvPr id="5" name="Text 2"/>
          <p:cNvSpPr txBox="1"/>
          <p:nvPr/>
        </p:nvSpPr>
        <p:spPr>
          <a:xfrm>
            <a:off x="457200" y="2788920"/>
            <a:ext cx="7772400" cy="365760"/>
          </a:xfrm>
          <a:prstGeom prst="rect">
            <a:avLst/>
          </a:prstGeom>
          <a:noFill/>
          <a:ln/>
        </p:spPr>
        <p:txBody>
          <a:bodyPr wrap="square" lIns="0" tIns="0" rIns="0" bIns="0" rtlCol="0" anchor="ctr"/>
          <a:lstStyle/>
          <a:p>
            <a:pPr indent="0" marL="0">
              <a:buNone/>
            </a:pPr>
            <a:r>
              <a:rPr lang="en-US" sz="1500" i="1" dirty="0">
                <a:solidFill>
                  <a:srgbClr val="A8D84E"/>
                </a:solidFill>
                <a:latin typeface="Calibri" pitchFamily="34" charset="0"/>
                <a:ea typeface="Calibri" pitchFamily="34" charset="-122"/>
                <a:cs typeface="Calibri" pitchFamily="34" charset="-120"/>
              </a:rPr>
              <a:t>A PostgreSQL database project — design, normalization, queries &amp; transaction management</a:t>
            </a:r>
            <a:endParaRPr lang="en-US" sz="1500" dirty="0"/>
          </a:p>
        </p:txBody>
      </p:sp>
      <p:sp>
        <p:nvSpPr>
          <p:cNvPr id="6" name="Text 3"/>
          <p:cNvSpPr txBox="1"/>
          <p:nvPr/>
        </p:nvSpPr>
        <p:spPr>
          <a:xfrm>
            <a:off x="457200" y="3931920"/>
            <a:ext cx="8229600" cy="320040"/>
          </a:xfrm>
          <a:prstGeom prst="rect">
            <a:avLst/>
          </a:prstGeom>
          <a:noFill/>
          <a:ln/>
        </p:spPr>
        <p:txBody>
          <a:bodyPr wrap="square" lIns="0" tIns="0" rIns="0" bIns="0" rtlCol="0" anchor="ctr"/>
          <a:lstStyle/>
          <a:p>
            <a:pPr indent="0" marL="0">
              <a:buNone/>
            </a:pPr>
            <a:r>
              <a:rPr lang="en-US" sz="1500" b="1" dirty="0">
                <a:solidFill>
                  <a:srgbClr val="A8D84E"/>
                </a:solidFill>
                <a:latin typeface="Calibri" pitchFamily="34" charset="0"/>
                <a:ea typeface="Calibri" pitchFamily="34" charset="-122"/>
                <a:cs typeface="Calibri" pitchFamily="34" charset="-120"/>
              </a:rPr>
              <a:t>Team: </a:t>
            </a:r>
            <a:pPr indent="0" marL="0">
              <a:buNone/>
            </a:pPr>
            <a:r>
              <a:rPr lang="en-US" sz="1500" dirty="0">
                <a:solidFill>
                  <a:srgbClr val="FFFFFF"/>
                </a:solidFill>
                <a:latin typeface="Calibri" pitchFamily="34" charset="0"/>
                <a:ea typeface="Calibri" pitchFamily="34" charset="-122"/>
                <a:cs typeface="Calibri" pitchFamily="34" charset="-120"/>
              </a:rPr>
              <a:t>Aditya Chouksey  ·  Tanay Shelar  ·  Janmesh Rohida</a:t>
            </a:r>
            <a:endParaRPr lang="en-US" sz="1500" dirty="0"/>
          </a:p>
        </p:txBody>
      </p:sp>
      <p:sp>
        <p:nvSpPr>
          <p:cNvPr id="7" name="Text 4"/>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200" dirty="0">
                <a:solidFill>
                  <a:srgbClr val="A9C4B6"/>
                </a:solidFill>
                <a:latin typeface="Calibri" pitchFamily="34" charset="0"/>
                <a:ea typeface="Calibri" pitchFamily="34" charset="-122"/>
                <a:cs typeface="Calibri" pitchFamily="34" charset="-120"/>
              </a:rPr>
              <a:t>DBMS Project Viva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Problem &amp; Objectives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Why a database for a municipal recycling plant?</a:t>
            </a:r>
            <a:endParaRPr lang="en-US" sz="1300" dirty="0"/>
          </a:p>
        </p:txBody>
      </p:sp>
      <p:sp>
        <p:nvSpPr>
          <p:cNvPr id="4" name="Shape 2"/>
          <p:cNvSpPr/>
          <p:nvPr/>
        </p:nvSpPr>
        <p:spPr>
          <a:xfrm>
            <a:off x="457200" y="1325880"/>
            <a:ext cx="3749040" cy="3383280"/>
          </a:xfrm>
          <a:prstGeom prst="roundRect">
            <a:avLst>
              <a:gd name="adj" fmla="val 2162"/>
            </a:avLst>
          </a:prstGeom>
          <a:solidFill>
            <a:srgbClr val="14342B"/>
          </a:solidFill>
          <a:ln w="12700">
            <a:solidFill>
              <a:srgbClr val="14342B"/>
            </a:solidFill>
            <a:prstDash val="solid"/>
          </a:ln>
        </p:spPr>
      </p:sp>
      <p:sp>
        <p:nvSpPr>
          <p:cNvPr id="5" name="Shape 3"/>
          <p:cNvSpPr/>
          <p:nvPr/>
        </p:nvSpPr>
        <p:spPr>
          <a:xfrm>
            <a:off x="731520" y="1554480"/>
            <a:ext cx="548640" cy="548640"/>
          </a:xfrm>
          <a:prstGeom prst="ellipse">
            <a:avLst/>
          </a:prstGeom>
          <a:solidFill>
            <a:srgbClr val="A8D84E"/>
          </a:solidFill>
          <a:ln w="12700">
            <a:solidFill>
              <a:srgbClr val="A8D84E"/>
            </a:solidFill>
            <a:prstDash val="solid"/>
          </a:ln>
        </p:spPr>
      </p:sp>
      <p:pic>
        <p:nvPicPr>
          <p:cNvPr id="6" name="Image 0" descr="preencoded.png">    </p:cNvPr>
          <p:cNvPicPr>
            <a:picLocks noChangeAspect="1"/>
          </p:cNvPicPr>
          <p:nvPr/>
        </p:nvPicPr>
        <p:blipFill>
          <a:blip r:embed="rId1"/>
          <a:stretch>
            <a:fillRect/>
          </a:stretch>
        </p:blipFill>
        <p:spPr>
          <a:xfrm>
            <a:off x="868680" y="1691640"/>
            <a:ext cx="274320" cy="274320"/>
          </a:xfrm>
          <a:prstGeom prst="rect">
            <a:avLst/>
          </a:prstGeom>
        </p:spPr>
      </p:pic>
      <p:sp>
        <p:nvSpPr>
          <p:cNvPr id="7" name="Text 4"/>
          <p:cNvSpPr txBox="1"/>
          <p:nvPr/>
        </p:nvSpPr>
        <p:spPr>
          <a:xfrm>
            <a:off x="731520" y="2240280"/>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problem</a:t>
            </a:r>
            <a:endParaRPr lang="en-US" sz="2000" dirty="0"/>
          </a:p>
        </p:txBody>
      </p:sp>
      <p:sp>
        <p:nvSpPr>
          <p:cNvPr id="8" name="Text 5"/>
          <p:cNvSpPr txBox="1"/>
          <p:nvPr/>
        </p:nvSpPr>
        <p:spPr>
          <a:xfrm>
            <a:off x="731520" y="2697480"/>
            <a:ext cx="32918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DDEEE4"/>
                </a:solidFill>
                <a:latin typeface="Calibri" pitchFamily="34" charset="0"/>
                <a:ea typeface="Calibri" pitchFamily="34" charset="-122"/>
                <a:cs typeface="Calibri" pitchFamily="34" charset="-120"/>
              </a:rPr>
              <a:t>Trips, weighbridge slips and batch sheets kept on paper</a:t>
            </a:r>
            <a:endParaRPr lang="en-US" sz="1300" dirty="0"/>
          </a:p>
          <a:p>
            <a:pPr marL="342900" indent="-342900">
              <a:spcAft>
                <a:spcPts val="600"/>
              </a:spcAft>
              <a:buSzPct val="100000"/>
              <a:buChar char="•"/>
            </a:pPr>
            <a:r>
              <a:rPr lang="en-US" sz="1300" dirty="0">
                <a:solidFill>
                  <a:srgbClr val="DDEEE4"/>
                </a:solidFill>
                <a:latin typeface="Calibri" pitchFamily="34" charset="0"/>
                <a:ea typeface="Calibri" pitchFamily="34" charset="-122"/>
                <a:cs typeface="Calibri" pitchFamily="34" charset="-120"/>
              </a:rPr>
              <a:t>No link between a collection trip and what gets recycled</a:t>
            </a:r>
            <a:endParaRPr lang="en-US" sz="1300" dirty="0"/>
          </a:p>
          <a:p>
            <a:pPr marL="342900" indent="-342900">
              <a:spcAft>
                <a:spcPts val="600"/>
              </a:spcAft>
              <a:buSzPct val="100000"/>
              <a:buChar char="•"/>
            </a:pPr>
            <a:r>
              <a:rPr lang="en-US" sz="1300" dirty="0">
                <a:solidFill>
                  <a:srgbClr val="DDEEE4"/>
                </a:solidFill>
                <a:latin typeface="Calibri" pitchFamily="34" charset="0"/>
                <a:ea typeface="Calibri" pitchFamily="34" charset="-122"/>
                <a:cs typeface="Calibri" pitchFamily="34" charset="-120"/>
              </a:rPr>
              <a:t>Net weights calculated by hand, prone to errors</a:t>
            </a:r>
            <a:endParaRPr lang="en-US" sz="1300" dirty="0"/>
          </a:p>
          <a:p>
            <a:pPr marL="342900" indent="-342900">
              <a:spcAft>
                <a:spcPts val="600"/>
              </a:spcAft>
              <a:buSzPct val="100000"/>
              <a:buChar char="•"/>
            </a:pPr>
            <a:r>
              <a:rPr lang="en-US" sz="1300" dirty="0">
                <a:solidFill>
                  <a:srgbClr val="DDEEE4"/>
                </a:solidFill>
                <a:latin typeface="Calibri" pitchFamily="34" charset="0"/>
                <a:ea typeface="Calibri" pitchFamily="34" charset="-122"/>
                <a:cs typeface="Calibri" pitchFamily="34" charset="-120"/>
              </a:rPr>
              <a:t>No zone-wise or material-wise reporting</a:t>
            </a:r>
            <a:endParaRPr lang="en-US" sz="1300" dirty="0"/>
          </a:p>
        </p:txBody>
      </p:sp>
      <p:sp>
        <p:nvSpPr>
          <p:cNvPr id="9" name="Shape 6"/>
          <p:cNvSpPr/>
          <p:nvPr/>
        </p:nvSpPr>
        <p:spPr>
          <a:xfrm>
            <a:off x="4572000" y="1371600"/>
            <a:ext cx="548640" cy="548640"/>
          </a:xfrm>
          <a:prstGeom prst="ellipse">
            <a:avLst/>
          </a:prstGeom>
          <a:solidFill>
            <a:srgbClr val="1F6B4A"/>
          </a:solidFill>
          <a:ln w="12700">
            <a:solidFill>
              <a:srgbClr val="1F6B4A"/>
            </a:solidFill>
            <a:prstDash val="solid"/>
          </a:ln>
        </p:spPr>
      </p:sp>
      <p:pic>
        <p:nvPicPr>
          <p:cNvPr id="10" name="Image 1" descr="preencoded.png">    </p:cNvPr>
          <p:cNvPicPr>
            <a:picLocks noChangeAspect="1"/>
          </p:cNvPicPr>
          <p:nvPr/>
        </p:nvPicPr>
        <p:blipFill>
          <a:blip r:embed="rId2"/>
          <a:stretch>
            <a:fillRect/>
          </a:stretch>
        </p:blipFill>
        <p:spPr>
          <a:xfrm>
            <a:off x="4709160" y="1508760"/>
            <a:ext cx="274320" cy="274320"/>
          </a:xfrm>
          <a:prstGeom prst="rect">
            <a:avLst/>
          </a:prstGeom>
        </p:spPr>
      </p:pic>
      <p:sp>
        <p:nvSpPr>
          <p:cNvPr id="11" name="Text 7"/>
          <p:cNvSpPr txBox="1"/>
          <p:nvPr/>
        </p:nvSpPr>
        <p:spPr>
          <a:xfrm>
            <a:off x="5303520" y="1353312"/>
            <a:ext cx="338328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Track every trip</a:t>
            </a:r>
            <a:endParaRPr lang="en-US" sz="1500" dirty="0"/>
          </a:p>
        </p:txBody>
      </p:sp>
      <p:sp>
        <p:nvSpPr>
          <p:cNvPr id="12" name="Text 8"/>
          <p:cNvSpPr txBox="1"/>
          <p:nvPr/>
        </p:nvSpPr>
        <p:spPr>
          <a:xfrm>
            <a:off x="5303520" y="1627632"/>
            <a:ext cx="3383280" cy="4572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Which vehicle, driver and zone, on which date</a:t>
            </a:r>
            <a:endParaRPr lang="en-US" sz="1200" dirty="0"/>
          </a:p>
        </p:txBody>
      </p:sp>
      <p:sp>
        <p:nvSpPr>
          <p:cNvPr id="13" name="Shape 9"/>
          <p:cNvSpPr/>
          <p:nvPr/>
        </p:nvSpPr>
        <p:spPr>
          <a:xfrm>
            <a:off x="4572000" y="2212848"/>
            <a:ext cx="548640" cy="548640"/>
          </a:xfrm>
          <a:prstGeom prst="ellipse">
            <a:avLst/>
          </a:prstGeom>
          <a:solidFill>
            <a:srgbClr val="1F6B4A"/>
          </a:solidFill>
          <a:ln w="12700">
            <a:solidFill>
              <a:srgbClr val="1F6B4A"/>
            </a:solidFill>
            <a:prstDash val="solid"/>
          </a:ln>
        </p:spPr>
      </p:sp>
      <p:pic>
        <p:nvPicPr>
          <p:cNvPr id="14" name="Image 2" descr="preencoded.png">    </p:cNvPr>
          <p:cNvPicPr>
            <a:picLocks noChangeAspect="1"/>
          </p:cNvPicPr>
          <p:nvPr/>
        </p:nvPicPr>
        <p:blipFill>
          <a:blip r:embed="rId3"/>
          <a:stretch>
            <a:fillRect/>
          </a:stretch>
        </p:blipFill>
        <p:spPr>
          <a:xfrm>
            <a:off x="4709160" y="2350008"/>
            <a:ext cx="274320" cy="274320"/>
          </a:xfrm>
          <a:prstGeom prst="rect">
            <a:avLst/>
          </a:prstGeom>
        </p:spPr>
      </p:pic>
      <p:sp>
        <p:nvSpPr>
          <p:cNvPr id="15" name="Text 10"/>
          <p:cNvSpPr txBox="1"/>
          <p:nvPr/>
        </p:nvSpPr>
        <p:spPr>
          <a:xfrm>
            <a:off x="5303520" y="2194560"/>
            <a:ext cx="338328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Accurate weighing</a:t>
            </a:r>
            <a:endParaRPr lang="en-US" sz="1500" dirty="0"/>
          </a:p>
        </p:txBody>
      </p:sp>
      <p:sp>
        <p:nvSpPr>
          <p:cNvPr id="16" name="Text 11"/>
          <p:cNvSpPr txBox="1"/>
          <p:nvPr/>
        </p:nvSpPr>
        <p:spPr>
          <a:xfrm>
            <a:off x="5303520" y="2468880"/>
            <a:ext cx="3383280" cy="4572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Gross − tare = net, enforced by a CHECK constraint</a:t>
            </a:r>
            <a:endParaRPr lang="en-US" sz="1200" dirty="0"/>
          </a:p>
        </p:txBody>
      </p:sp>
      <p:sp>
        <p:nvSpPr>
          <p:cNvPr id="17" name="Shape 12"/>
          <p:cNvSpPr/>
          <p:nvPr/>
        </p:nvSpPr>
        <p:spPr>
          <a:xfrm>
            <a:off x="4572000" y="3054096"/>
            <a:ext cx="548640" cy="548640"/>
          </a:xfrm>
          <a:prstGeom prst="ellipse">
            <a:avLst/>
          </a:prstGeom>
          <a:solidFill>
            <a:srgbClr val="1F6B4A"/>
          </a:solidFill>
          <a:ln w="12700">
            <a:solidFill>
              <a:srgbClr val="1F6B4A"/>
            </a:solidFill>
            <a:prstDash val="solid"/>
          </a:ln>
        </p:spPr>
      </p:sp>
      <p:pic>
        <p:nvPicPr>
          <p:cNvPr id="18" name="Image 3" descr="preencoded.png">    </p:cNvPr>
          <p:cNvPicPr>
            <a:picLocks noChangeAspect="1"/>
          </p:cNvPicPr>
          <p:nvPr/>
        </p:nvPicPr>
        <p:blipFill>
          <a:blip r:embed="rId4"/>
          <a:stretch>
            <a:fillRect/>
          </a:stretch>
        </p:blipFill>
        <p:spPr>
          <a:xfrm>
            <a:off x="4709160" y="3191256"/>
            <a:ext cx="274320" cy="274320"/>
          </a:xfrm>
          <a:prstGeom prst="rect">
            <a:avLst/>
          </a:prstGeom>
        </p:spPr>
      </p:pic>
      <p:sp>
        <p:nvSpPr>
          <p:cNvPr id="19" name="Text 13"/>
          <p:cNvSpPr txBox="1"/>
          <p:nvPr/>
        </p:nvSpPr>
        <p:spPr>
          <a:xfrm>
            <a:off x="5303520" y="3035808"/>
            <a:ext cx="338328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Material-wise processing</a:t>
            </a:r>
            <a:endParaRPr lang="en-US" sz="1500" dirty="0"/>
          </a:p>
        </p:txBody>
      </p:sp>
      <p:sp>
        <p:nvSpPr>
          <p:cNvPr id="20" name="Text 14"/>
          <p:cNvSpPr txBox="1"/>
          <p:nvPr/>
        </p:nvSpPr>
        <p:spPr>
          <a:xfrm>
            <a:off x="5303520" y="3310128"/>
            <a:ext cx="3383280" cy="4572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Split each load into material categories inside batches</a:t>
            </a:r>
            <a:endParaRPr lang="en-US" sz="1200" dirty="0"/>
          </a:p>
        </p:txBody>
      </p:sp>
      <p:sp>
        <p:nvSpPr>
          <p:cNvPr id="21" name="Shape 15"/>
          <p:cNvSpPr/>
          <p:nvPr/>
        </p:nvSpPr>
        <p:spPr>
          <a:xfrm>
            <a:off x="4572000" y="3895344"/>
            <a:ext cx="548640" cy="548640"/>
          </a:xfrm>
          <a:prstGeom prst="ellipse">
            <a:avLst/>
          </a:prstGeom>
          <a:solidFill>
            <a:srgbClr val="1F6B4A"/>
          </a:solidFill>
          <a:ln w="12700">
            <a:solidFill>
              <a:srgbClr val="1F6B4A"/>
            </a:solidFill>
            <a:prstDash val="solid"/>
          </a:ln>
        </p:spPr>
      </p:sp>
      <p:pic>
        <p:nvPicPr>
          <p:cNvPr id="22" name="Image 4" descr="preencoded.png">    </p:cNvPr>
          <p:cNvPicPr>
            <a:picLocks noChangeAspect="1"/>
          </p:cNvPicPr>
          <p:nvPr/>
        </p:nvPicPr>
        <p:blipFill>
          <a:blip r:embed="rId5"/>
          <a:stretch>
            <a:fillRect/>
          </a:stretch>
        </p:blipFill>
        <p:spPr>
          <a:xfrm>
            <a:off x="4709160" y="4032504"/>
            <a:ext cx="274320" cy="274320"/>
          </a:xfrm>
          <a:prstGeom prst="rect">
            <a:avLst/>
          </a:prstGeom>
        </p:spPr>
      </p:pic>
      <p:sp>
        <p:nvSpPr>
          <p:cNvPr id="23" name="Text 16"/>
          <p:cNvSpPr txBox="1"/>
          <p:nvPr/>
        </p:nvSpPr>
        <p:spPr>
          <a:xfrm>
            <a:off x="5303520" y="3877056"/>
            <a:ext cx="338328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Safe concurrent use</a:t>
            </a:r>
            <a:endParaRPr lang="en-US" sz="1500" dirty="0"/>
          </a:p>
        </p:txBody>
      </p:sp>
      <p:sp>
        <p:nvSpPr>
          <p:cNvPr id="24" name="Text 17"/>
          <p:cNvSpPr txBox="1"/>
          <p:nvPr/>
        </p:nvSpPr>
        <p:spPr>
          <a:xfrm>
            <a:off x="5303520" y="4151376"/>
            <a:ext cx="3383280" cy="4572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ACID transactions and row locking for batch loading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6F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Project at a Glance</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Everything we built, in numbers</a:t>
            </a:r>
            <a:endParaRPr lang="en-US" sz="1300" dirty="0"/>
          </a:p>
        </p:txBody>
      </p:sp>
      <p:sp>
        <p:nvSpPr>
          <p:cNvPr id="4" name="Shape 2"/>
          <p:cNvSpPr/>
          <p:nvPr/>
        </p:nvSpPr>
        <p:spPr>
          <a:xfrm>
            <a:off x="457200" y="1325880"/>
            <a:ext cx="2606040" cy="1508760"/>
          </a:xfrm>
          <a:prstGeom prst="roundRect">
            <a:avLst>
              <a:gd name="adj" fmla="val 4848"/>
            </a:avLst>
          </a:prstGeom>
          <a:solidFill>
            <a:srgbClr val="FFFFFF"/>
          </a:solidFill>
          <a:ln w="12700">
            <a:solidFill>
              <a:srgbClr val="FFFFFF"/>
            </a:solidFill>
            <a:prstDash val="solid"/>
          </a:ln>
        </p:spPr>
      </p:sp>
      <p:sp>
        <p:nvSpPr>
          <p:cNvPr id="5" name="Text 3"/>
          <p:cNvSpPr txBox="1"/>
          <p:nvPr/>
        </p:nvSpPr>
        <p:spPr>
          <a:xfrm>
            <a:off x="685800" y="1508760"/>
            <a:ext cx="2194560" cy="731520"/>
          </a:xfrm>
          <a:prstGeom prst="rect">
            <a:avLst/>
          </a:prstGeom>
          <a:noFill/>
          <a:ln/>
        </p:spPr>
        <p:txBody>
          <a:bodyPr wrap="square" lIns="0" tIns="0" rIns="0" bIns="0" rtlCol="0" anchor="t"/>
          <a:lstStyle/>
          <a:p>
            <a:pPr indent="0" marL="0">
              <a:buNone/>
            </a:pPr>
            <a:r>
              <a:rPr lang="en-US" sz="4400" b="1" dirty="0">
                <a:solidFill>
                  <a:srgbClr val="1F6B4A"/>
                </a:solidFill>
                <a:latin typeface="Cambria" pitchFamily="34" charset="0"/>
                <a:ea typeface="Cambria" pitchFamily="34" charset="-122"/>
                <a:cs typeface="Cambria" pitchFamily="34" charset="-120"/>
              </a:rPr>
              <a:t>8</a:t>
            </a:r>
            <a:endParaRPr lang="en-US" sz="4400" dirty="0"/>
          </a:p>
        </p:txBody>
      </p:sp>
      <p:sp>
        <p:nvSpPr>
          <p:cNvPr id="6" name="Text 4"/>
          <p:cNvSpPr txBox="1"/>
          <p:nvPr/>
        </p:nvSpPr>
        <p:spPr>
          <a:xfrm>
            <a:off x="685800" y="2286000"/>
            <a:ext cx="2194560" cy="365760"/>
          </a:xfrm>
          <a:prstGeom prst="rect">
            <a:avLst/>
          </a:prstGeom>
          <a:noFill/>
          <a:ln/>
        </p:spPr>
        <p:txBody>
          <a:bodyPr wrap="square" lIns="0" tIns="0" rIns="0" bIns="0" rtlCol="0" anchor="t"/>
          <a:lstStyle/>
          <a:p>
            <a:pPr indent="0" marL="0">
              <a:buNone/>
            </a:pPr>
            <a:r>
              <a:rPr lang="en-US" sz="1400" dirty="0">
                <a:solidFill>
                  <a:srgbClr val="5B6B65"/>
                </a:solidFill>
                <a:latin typeface="Calibri" pitchFamily="34" charset="0"/>
                <a:ea typeface="Calibri" pitchFamily="34" charset="-122"/>
                <a:cs typeface="Calibri" pitchFamily="34" charset="-120"/>
              </a:rPr>
              <a:t>Tables</a:t>
            </a:r>
            <a:endParaRPr lang="en-US" sz="1400" dirty="0"/>
          </a:p>
        </p:txBody>
      </p:sp>
      <p:sp>
        <p:nvSpPr>
          <p:cNvPr id="7" name="Shape 5"/>
          <p:cNvSpPr/>
          <p:nvPr/>
        </p:nvSpPr>
        <p:spPr>
          <a:xfrm>
            <a:off x="3264408" y="1325880"/>
            <a:ext cx="2606040" cy="1508760"/>
          </a:xfrm>
          <a:prstGeom prst="roundRect">
            <a:avLst>
              <a:gd name="adj" fmla="val 4848"/>
            </a:avLst>
          </a:prstGeom>
          <a:solidFill>
            <a:srgbClr val="FFFFFF"/>
          </a:solidFill>
          <a:ln w="12700">
            <a:solidFill>
              <a:srgbClr val="FFFFFF"/>
            </a:solidFill>
            <a:prstDash val="solid"/>
          </a:ln>
        </p:spPr>
      </p:sp>
      <p:sp>
        <p:nvSpPr>
          <p:cNvPr id="8" name="Text 6"/>
          <p:cNvSpPr txBox="1"/>
          <p:nvPr/>
        </p:nvSpPr>
        <p:spPr>
          <a:xfrm>
            <a:off x="3493008" y="1508760"/>
            <a:ext cx="2194560" cy="731520"/>
          </a:xfrm>
          <a:prstGeom prst="rect">
            <a:avLst/>
          </a:prstGeom>
          <a:noFill/>
          <a:ln/>
        </p:spPr>
        <p:txBody>
          <a:bodyPr wrap="square" lIns="0" tIns="0" rIns="0" bIns="0" rtlCol="0" anchor="t"/>
          <a:lstStyle/>
          <a:p>
            <a:pPr indent="0" marL="0">
              <a:buNone/>
            </a:pPr>
            <a:r>
              <a:rPr lang="en-US" sz="4400" b="1" dirty="0">
                <a:solidFill>
                  <a:srgbClr val="1F6B4A"/>
                </a:solidFill>
                <a:latin typeface="Cambria" pitchFamily="34" charset="0"/>
                <a:ea typeface="Cambria" pitchFamily="34" charset="-122"/>
                <a:cs typeface="Cambria" pitchFamily="34" charset="-120"/>
              </a:rPr>
              <a:t>127</a:t>
            </a:r>
            <a:endParaRPr lang="en-US" sz="4400" dirty="0"/>
          </a:p>
        </p:txBody>
      </p:sp>
      <p:sp>
        <p:nvSpPr>
          <p:cNvPr id="9" name="Text 7"/>
          <p:cNvSpPr txBox="1"/>
          <p:nvPr/>
        </p:nvSpPr>
        <p:spPr>
          <a:xfrm>
            <a:off x="3493008" y="2286000"/>
            <a:ext cx="2194560" cy="365760"/>
          </a:xfrm>
          <a:prstGeom prst="rect">
            <a:avLst/>
          </a:prstGeom>
          <a:noFill/>
          <a:ln/>
        </p:spPr>
        <p:txBody>
          <a:bodyPr wrap="square" lIns="0" tIns="0" rIns="0" bIns="0" rtlCol="0" anchor="t"/>
          <a:lstStyle/>
          <a:p>
            <a:pPr indent="0" marL="0">
              <a:buNone/>
            </a:pPr>
            <a:r>
              <a:rPr lang="en-US" sz="1400" dirty="0">
                <a:solidFill>
                  <a:srgbClr val="5B6B65"/>
                </a:solidFill>
                <a:latin typeface="Calibri" pitchFamily="34" charset="0"/>
                <a:ea typeface="Calibri" pitchFamily="34" charset="-122"/>
                <a:cs typeface="Calibri" pitchFamily="34" charset="-120"/>
              </a:rPr>
              <a:t>Seed records</a:t>
            </a:r>
            <a:endParaRPr lang="en-US" sz="1400" dirty="0"/>
          </a:p>
        </p:txBody>
      </p:sp>
      <p:sp>
        <p:nvSpPr>
          <p:cNvPr id="10" name="Shape 8"/>
          <p:cNvSpPr/>
          <p:nvPr/>
        </p:nvSpPr>
        <p:spPr>
          <a:xfrm>
            <a:off x="6071616" y="1325880"/>
            <a:ext cx="2606040" cy="1508760"/>
          </a:xfrm>
          <a:prstGeom prst="roundRect">
            <a:avLst>
              <a:gd name="adj" fmla="val 4848"/>
            </a:avLst>
          </a:prstGeom>
          <a:solidFill>
            <a:srgbClr val="FFFFFF"/>
          </a:solidFill>
          <a:ln w="12700">
            <a:solidFill>
              <a:srgbClr val="FFFFFF"/>
            </a:solidFill>
            <a:prstDash val="solid"/>
          </a:ln>
        </p:spPr>
      </p:sp>
      <p:sp>
        <p:nvSpPr>
          <p:cNvPr id="11" name="Text 9"/>
          <p:cNvSpPr txBox="1"/>
          <p:nvPr/>
        </p:nvSpPr>
        <p:spPr>
          <a:xfrm>
            <a:off x="6300216" y="1508760"/>
            <a:ext cx="2194560" cy="731520"/>
          </a:xfrm>
          <a:prstGeom prst="rect">
            <a:avLst/>
          </a:prstGeom>
          <a:noFill/>
          <a:ln/>
        </p:spPr>
        <p:txBody>
          <a:bodyPr wrap="square" lIns="0" tIns="0" rIns="0" bIns="0" rtlCol="0" anchor="t"/>
          <a:lstStyle/>
          <a:p>
            <a:pPr indent="0" marL="0">
              <a:buNone/>
            </a:pPr>
            <a:r>
              <a:rPr lang="en-US" sz="4400" b="1" dirty="0">
                <a:solidFill>
                  <a:srgbClr val="1F6B4A"/>
                </a:solidFill>
                <a:latin typeface="Cambria" pitchFamily="34" charset="0"/>
                <a:ea typeface="Cambria" pitchFamily="34" charset="-122"/>
                <a:cs typeface="Cambria" pitchFamily="34" charset="-120"/>
              </a:rPr>
              <a:t>20</a:t>
            </a:r>
            <a:endParaRPr lang="en-US" sz="4400" dirty="0"/>
          </a:p>
        </p:txBody>
      </p:sp>
      <p:sp>
        <p:nvSpPr>
          <p:cNvPr id="12" name="Text 10"/>
          <p:cNvSpPr txBox="1"/>
          <p:nvPr/>
        </p:nvSpPr>
        <p:spPr>
          <a:xfrm>
            <a:off x="6300216" y="2286000"/>
            <a:ext cx="2194560" cy="365760"/>
          </a:xfrm>
          <a:prstGeom prst="rect">
            <a:avLst/>
          </a:prstGeom>
          <a:noFill/>
          <a:ln/>
        </p:spPr>
        <p:txBody>
          <a:bodyPr wrap="square" lIns="0" tIns="0" rIns="0" bIns="0" rtlCol="0" anchor="t"/>
          <a:lstStyle/>
          <a:p>
            <a:pPr indent="0" marL="0">
              <a:buNone/>
            </a:pPr>
            <a:r>
              <a:rPr lang="en-US" sz="1400" dirty="0">
                <a:solidFill>
                  <a:srgbClr val="5B6B65"/>
                </a:solidFill>
                <a:latin typeface="Calibri" pitchFamily="34" charset="0"/>
                <a:ea typeface="Calibri" pitchFamily="34" charset="-122"/>
                <a:cs typeface="Calibri" pitchFamily="34" charset="-120"/>
              </a:rPr>
              <a:t>Business queries</a:t>
            </a:r>
            <a:endParaRPr lang="en-US" sz="1400" dirty="0"/>
          </a:p>
        </p:txBody>
      </p:sp>
      <p:sp>
        <p:nvSpPr>
          <p:cNvPr id="13" name="Shape 11"/>
          <p:cNvSpPr/>
          <p:nvPr/>
        </p:nvSpPr>
        <p:spPr>
          <a:xfrm>
            <a:off x="457200" y="3063240"/>
            <a:ext cx="2606040" cy="1508760"/>
          </a:xfrm>
          <a:prstGeom prst="roundRect">
            <a:avLst>
              <a:gd name="adj" fmla="val 4848"/>
            </a:avLst>
          </a:prstGeom>
          <a:solidFill>
            <a:srgbClr val="FFFFFF"/>
          </a:solidFill>
          <a:ln w="12700">
            <a:solidFill>
              <a:srgbClr val="FFFFFF"/>
            </a:solidFill>
            <a:prstDash val="solid"/>
          </a:ln>
        </p:spPr>
      </p:sp>
      <p:sp>
        <p:nvSpPr>
          <p:cNvPr id="14" name="Text 12"/>
          <p:cNvSpPr txBox="1"/>
          <p:nvPr/>
        </p:nvSpPr>
        <p:spPr>
          <a:xfrm>
            <a:off x="685800" y="3246120"/>
            <a:ext cx="2194560" cy="731520"/>
          </a:xfrm>
          <a:prstGeom prst="rect">
            <a:avLst/>
          </a:prstGeom>
          <a:noFill/>
          <a:ln/>
        </p:spPr>
        <p:txBody>
          <a:bodyPr wrap="square" lIns="0" tIns="0" rIns="0" bIns="0" rtlCol="0" anchor="t"/>
          <a:lstStyle/>
          <a:p>
            <a:pPr indent="0" marL="0">
              <a:buNone/>
            </a:pPr>
            <a:r>
              <a:rPr lang="en-US" sz="4400" b="1" dirty="0">
                <a:solidFill>
                  <a:srgbClr val="1F6B4A"/>
                </a:solidFill>
                <a:latin typeface="Cambria" pitchFamily="34" charset="0"/>
                <a:ea typeface="Cambria" pitchFamily="34" charset="-122"/>
                <a:cs typeface="Cambria" pitchFamily="34" charset="-120"/>
              </a:rPr>
              <a:t>13</a:t>
            </a:r>
            <a:endParaRPr lang="en-US" sz="4400" dirty="0"/>
          </a:p>
        </p:txBody>
      </p:sp>
      <p:sp>
        <p:nvSpPr>
          <p:cNvPr id="15" name="Text 13"/>
          <p:cNvSpPr txBox="1"/>
          <p:nvPr/>
        </p:nvSpPr>
        <p:spPr>
          <a:xfrm>
            <a:off x="685800" y="4023360"/>
            <a:ext cx="2194560" cy="365760"/>
          </a:xfrm>
          <a:prstGeom prst="rect">
            <a:avLst/>
          </a:prstGeom>
          <a:noFill/>
          <a:ln/>
        </p:spPr>
        <p:txBody>
          <a:bodyPr wrap="square" lIns="0" tIns="0" rIns="0" bIns="0" rtlCol="0" anchor="t"/>
          <a:lstStyle/>
          <a:p>
            <a:pPr indent="0" marL="0">
              <a:buNone/>
            </a:pPr>
            <a:r>
              <a:rPr lang="en-US" sz="1400" dirty="0">
                <a:solidFill>
                  <a:srgbClr val="5B6B65"/>
                </a:solidFill>
                <a:latin typeface="Calibri" pitchFamily="34" charset="0"/>
                <a:ea typeface="Calibri" pitchFamily="34" charset="-122"/>
                <a:cs typeface="Calibri" pitchFamily="34" charset="-120"/>
              </a:rPr>
              <a:t>Performance indexes</a:t>
            </a:r>
            <a:endParaRPr lang="en-US" sz="1400" dirty="0"/>
          </a:p>
        </p:txBody>
      </p:sp>
      <p:sp>
        <p:nvSpPr>
          <p:cNvPr id="16" name="Shape 14"/>
          <p:cNvSpPr/>
          <p:nvPr/>
        </p:nvSpPr>
        <p:spPr>
          <a:xfrm>
            <a:off x="3264408" y="3063240"/>
            <a:ext cx="2606040" cy="1508760"/>
          </a:xfrm>
          <a:prstGeom prst="roundRect">
            <a:avLst>
              <a:gd name="adj" fmla="val 4848"/>
            </a:avLst>
          </a:prstGeom>
          <a:solidFill>
            <a:srgbClr val="FFFFFF"/>
          </a:solidFill>
          <a:ln w="12700">
            <a:solidFill>
              <a:srgbClr val="FFFFFF"/>
            </a:solidFill>
            <a:prstDash val="solid"/>
          </a:ln>
        </p:spPr>
      </p:sp>
      <p:sp>
        <p:nvSpPr>
          <p:cNvPr id="17" name="Text 15"/>
          <p:cNvSpPr txBox="1"/>
          <p:nvPr/>
        </p:nvSpPr>
        <p:spPr>
          <a:xfrm>
            <a:off x="3493008" y="3246120"/>
            <a:ext cx="2194560" cy="731520"/>
          </a:xfrm>
          <a:prstGeom prst="rect">
            <a:avLst/>
          </a:prstGeom>
          <a:noFill/>
          <a:ln/>
        </p:spPr>
        <p:txBody>
          <a:bodyPr wrap="square" lIns="0" tIns="0" rIns="0" bIns="0" rtlCol="0" anchor="t"/>
          <a:lstStyle/>
          <a:p>
            <a:pPr indent="0" marL="0">
              <a:buNone/>
            </a:pPr>
            <a:r>
              <a:rPr lang="en-US" sz="4400" b="1" dirty="0">
                <a:solidFill>
                  <a:srgbClr val="1F6B4A"/>
                </a:solidFill>
                <a:latin typeface="Cambria" pitchFamily="34" charset="0"/>
                <a:ea typeface="Cambria" pitchFamily="34" charset="-122"/>
                <a:cs typeface="Cambria" pitchFamily="34" charset="-120"/>
              </a:rPr>
              <a:t>4 + 6</a:t>
            </a:r>
            <a:endParaRPr lang="en-US" sz="4400" dirty="0"/>
          </a:p>
        </p:txBody>
      </p:sp>
      <p:sp>
        <p:nvSpPr>
          <p:cNvPr id="18" name="Text 16"/>
          <p:cNvSpPr txBox="1"/>
          <p:nvPr/>
        </p:nvSpPr>
        <p:spPr>
          <a:xfrm>
            <a:off x="3493008" y="4023360"/>
            <a:ext cx="2194560" cy="365760"/>
          </a:xfrm>
          <a:prstGeom prst="rect">
            <a:avLst/>
          </a:prstGeom>
          <a:noFill/>
          <a:ln/>
        </p:spPr>
        <p:txBody>
          <a:bodyPr wrap="square" lIns="0" tIns="0" rIns="0" bIns="0" rtlCol="0" anchor="t"/>
          <a:lstStyle/>
          <a:p>
            <a:pPr indent="0" marL="0">
              <a:buNone/>
            </a:pPr>
            <a:r>
              <a:rPr lang="en-US" sz="1400" dirty="0">
                <a:solidFill>
                  <a:srgbClr val="5B6B65"/>
                </a:solidFill>
                <a:latin typeface="Calibri" pitchFamily="34" charset="0"/>
                <a:ea typeface="Calibri" pitchFamily="34" charset="-122"/>
                <a:cs typeface="Calibri" pitchFamily="34" charset="-120"/>
              </a:rPr>
              <a:t>Transactions + concurrency scenarios</a:t>
            </a:r>
            <a:endParaRPr lang="en-US" sz="1400" dirty="0"/>
          </a:p>
        </p:txBody>
      </p:sp>
      <p:sp>
        <p:nvSpPr>
          <p:cNvPr id="19" name="Shape 17"/>
          <p:cNvSpPr/>
          <p:nvPr/>
        </p:nvSpPr>
        <p:spPr>
          <a:xfrm>
            <a:off x="6071616" y="3063240"/>
            <a:ext cx="2606040" cy="1508760"/>
          </a:xfrm>
          <a:prstGeom prst="roundRect">
            <a:avLst>
              <a:gd name="adj" fmla="val 4848"/>
            </a:avLst>
          </a:prstGeom>
          <a:solidFill>
            <a:srgbClr val="FFFFFF"/>
          </a:solidFill>
          <a:ln w="12700">
            <a:solidFill>
              <a:srgbClr val="FFFFFF"/>
            </a:solidFill>
            <a:prstDash val="solid"/>
          </a:ln>
        </p:spPr>
      </p:sp>
      <p:sp>
        <p:nvSpPr>
          <p:cNvPr id="20" name="Text 18"/>
          <p:cNvSpPr txBox="1"/>
          <p:nvPr/>
        </p:nvSpPr>
        <p:spPr>
          <a:xfrm>
            <a:off x="6300216" y="3246120"/>
            <a:ext cx="2194560" cy="731520"/>
          </a:xfrm>
          <a:prstGeom prst="rect">
            <a:avLst/>
          </a:prstGeom>
          <a:noFill/>
          <a:ln/>
        </p:spPr>
        <p:txBody>
          <a:bodyPr wrap="square" lIns="0" tIns="0" rIns="0" bIns="0" rtlCol="0" anchor="t"/>
          <a:lstStyle/>
          <a:p>
            <a:pPr indent="0" marL="0">
              <a:buNone/>
            </a:pPr>
            <a:r>
              <a:rPr lang="en-US" sz="4400" b="1" dirty="0">
                <a:solidFill>
                  <a:srgbClr val="1F6B4A"/>
                </a:solidFill>
                <a:latin typeface="Cambria" pitchFamily="34" charset="0"/>
                <a:ea typeface="Cambria" pitchFamily="34" charset="-122"/>
                <a:cs typeface="Cambria" pitchFamily="34" charset="-120"/>
              </a:rPr>
              <a:t>3NF</a:t>
            </a:r>
            <a:endParaRPr lang="en-US" sz="4400" dirty="0"/>
          </a:p>
        </p:txBody>
      </p:sp>
      <p:sp>
        <p:nvSpPr>
          <p:cNvPr id="21" name="Text 19"/>
          <p:cNvSpPr txBox="1"/>
          <p:nvPr/>
        </p:nvSpPr>
        <p:spPr>
          <a:xfrm>
            <a:off x="6300216" y="4023360"/>
            <a:ext cx="2194560" cy="365760"/>
          </a:xfrm>
          <a:prstGeom prst="rect">
            <a:avLst/>
          </a:prstGeom>
          <a:noFill/>
          <a:ln/>
        </p:spPr>
        <p:txBody>
          <a:bodyPr wrap="square" lIns="0" tIns="0" rIns="0" bIns="0" rtlCol="0" anchor="t"/>
          <a:lstStyle/>
          <a:p>
            <a:pPr indent="0" marL="0">
              <a:buNone/>
            </a:pPr>
            <a:r>
              <a:rPr lang="en-US" sz="1400" dirty="0">
                <a:solidFill>
                  <a:srgbClr val="5B6B65"/>
                </a:solidFill>
                <a:latin typeface="Calibri" pitchFamily="34" charset="0"/>
                <a:ea typeface="Calibri" pitchFamily="34" charset="-122"/>
                <a:cs typeface="Calibri" pitchFamily="34" charset="-120"/>
              </a:rPr>
              <a:t>Normalization level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How the System Works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The real-world flow our database models</a:t>
            </a:r>
            <a:endParaRPr lang="en-US" sz="1300" dirty="0"/>
          </a:p>
        </p:txBody>
      </p:sp>
      <p:sp>
        <p:nvSpPr>
          <p:cNvPr id="4" name="Shape 2"/>
          <p:cNvSpPr/>
          <p:nvPr/>
        </p:nvSpPr>
        <p:spPr>
          <a:xfrm>
            <a:off x="841248" y="1600200"/>
            <a:ext cx="685800" cy="685800"/>
          </a:xfrm>
          <a:prstGeom prst="ellipse">
            <a:avLst/>
          </a:prstGeom>
          <a:solidFill>
            <a:srgbClr val="1F6B4A"/>
          </a:solidFill>
          <a:ln w="12700">
            <a:solidFill>
              <a:srgbClr val="1F6B4A"/>
            </a:solidFill>
            <a:prstDash val="solid"/>
          </a:ln>
        </p:spPr>
      </p:sp>
      <p:pic>
        <p:nvPicPr>
          <p:cNvPr id="5" name="Image 0" descr="preencoded.png">    </p:cNvPr>
          <p:cNvPicPr>
            <a:picLocks noChangeAspect="1"/>
          </p:cNvPicPr>
          <p:nvPr/>
        </p:nvPicPr>
        <p:blipFill>
          <a:blip r:embed="rId1"/>
          <a:stretch>
            <a:fillRect/>
          </a:stretch>
        </p:blipFill>
        <p:spPr>
          <a:xfrm>
            <a:off x="1012698" y="1771650"/>
            <a:ext cx="342900" cy="342900"/>
          </a:xfrm>
          <a:prstGeom prst="rect">
            <a:avLst/>
          </a:prstGeom>
        </p:spPr>
      </p:pic>
      <p:sp>
        <p:nvSpPr>
          <p:cNvPr id="6" name="Text 3"/>
          <p:cNvSpPr txBox="1"/>
          <p:nvPr/>
        </p:nvSpPr>
        <p:spPr>
          <a:xfrm>
            <a:off x="457200" y="2423160"/>
            <a:ext cx="1463040" cy="32004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Zone</a:t>
            </a:r>
            <a:endParaRPr lang="en-US" sz="1300" dirty="0"/>
          </a:p>
        </p:txBody>
      </p:sp>
      <p:sp>
        <p:nvSpPr>
          <p:cNvPr id="7" name="Text 4"/>
          <p:cNvSpPr txBox="1"/>
          <p:nvPr/>
        </p:nvSpPr>
        <p:spPr>
          <a:xfrm>
            <a:off x="457200" y="2743200"/>
            <a:ext cx="1463040" cy="822960"/>
          </a:xfrm>
          <a:prstGeom prst="rect">
            <a:avLst/>
          </a:prstGeom>
          <a:noFill/>
          <a:ln/>
        </p:spPr>
        <p:txBody>
          <a:bodyPr wrap="square" lIns="0" tIns="0" rIns="0" bIns="0" rtlCol="0" anchor="t"/>
          <a:lstStyle/>
          <a:p>
            <a:pPr algn="ctr" indent="0" marL="0">
              <a:buNone/>
            </a:pPr>
            <a:r>
              <a:rPr lang="en-US" sz="1100" dirty="0">
                <a:solidFill>
                  <a:srgbClr val="5B6B65"/>
                </a:solidFill>
                <a:latin typeface="Calibri" pitchFamily="34" charset="0"/>
                <a:ea typeface="Calibri" pitchFamily="34" charset="-122"/>
                <a:cs typeface="Calibri" pitchFamily="34" charset="-120"/>
              </a:rPr>
              <a:t>North, South, East, West, Central</a:t>
            </a:r>
            <a:endParaRPr lang="en-US" sz="1100" dirty="0"/>
          </a:p>
        </p:txBody>
      </p:sp>
      <p:sp>
        <p:nvSpPr>
          <p:cNvPr id="8" name="Shape 5"/>
          <p:cNvSpPr/>
          <p:nvPr/>
        </p:nvSpPr>
        <p:spPr>
          <a:xfrm>
            <a:off x="1645920" y="1943100"/>
            <a:ext cx="640080" cy="0"/>
          </a:xfrm>
          <a:prstGeom prst="line">
            <a:avLst/>
          </a:prstGeom>
          <a:noFill/>
          <a:ln w="25400">
            <a:solidFill>
              <a:srgbClr val="3E9B6E"/>
            </a:solidFill>
            <a:prstDash val="solid"/>
            <a:tailEnd type="triangle"/>
          </a:ln>
        </p:spPr>
      </p:sp>
      <p:sp>
        <p:nvSpPr>
          <p:cNvPr id="9" name="Shape 6"/>
          <p:cNvSpPr/>
          <p:nvPr/>
        </p:nvSpPr>
        <p:spPr>
          <a:xfrm>
            <a:off x="2514600" y="1600200"/>
            <a:ext cx="685800" cy="685800"/>
          </a:xfrm>
          <a:prstGeom prst="ellipse">
            <a:avLst/>
          </a:prstGeom>
          <a:solidFill>
            <a:srgbClr val="1F6B4A"/>
          </a:solidFill>
          <a:ln w="12700">
            <a:solidFill>
              <a:srgbClr val="1F6B4A"/>
            </a:solidFill>
            <a:prstDash val="solid"/>
          </a:ln>
        </p:spPr>
      </p:sp>
      <p:pic>
        <p:nvPicPr>
          <p:cNvPr id="10" name="Image 1" descr="preencoded.png">    </p:cNvPr>
          <p:cNvPicPr>
            <a:picLocks noChangeAspect="1"/>
          </p:cNvPicPr>
          <p:nvPr/>
        </p:nvPicPr>
        <p:blipFill>
          <a:blip r:embed="rId2"/>
          <a:stretch>
            <a:fillRect/>
          </a:stretch>
        </p:blipFill>
        <p:spPr>
          <a:xfrm>
            <a:off x="2686050" y="1771650"/>
            <a:ext cx="342900" cy="342900"/>
          </a:xfrm>
          <a:prstGeom prst="rect">
            <a:avLst/>
          </a:prstGeom>
        </p:spPr>
      </p:pic>
      <p:sp>
        <p:nvSpPr>
          <p:cNvPr id="11" name="Text 7"/>
          <p:cNvSpPr txBox="1"/>
          <p:nvPr/>
        </p:nvSpPr>
        <p:spPr>
          <a:xfrm>
            <a:off x="2130552" y="2423160"/>
            <a:ext cx="1463040" cy="32004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Trip</a:t>
            </a:r>
            <a:endParaRPr lang="en-US" sz="1300" dirty="0"/>
          </a:p>
        </p:txBody>
      </p:sp>
      <p:sp>
        <p:nvSpPr>
          <p:cNvPr id="12" name="Text 8"/>
          <p:cNvSpPr txBox="1"/>
          <p:nvPr/>
        </p:nvSpPr>
        <p:spPr>
          <a:xfrm>
            <a:off x="2130552" y="2743200"/>
            <a:ext cx="1463040" cy="822960"/>
          </a:xfrm>
          <a:prstGeom prst="rect">
            <a:avLst/>
          </a:prstGeom>
          <a:noFill/>
          <a:ln/>
        </p:spPr>
        <p:txBody>
          <a:bodyPr wrap="square" lIns="0" tIns="0" rIns="0" bIns="0" rtlCol="0" anchor="t"/>
          <a:lstStyle/>
          <a:p>
            <a:pPr algn="ctr" indent="0" marL="0">
              <a:buNone/>
            </a:pPr>
            <a:r>
              <a:rPr lang="en-US" sz="1100" dirty="0">
                <a:solidFill>
                  <a:srgbClr val="5B6B65"/>
                </a:solidFill>
                <a:latin typeface="Calibri" pitchFamily="34" charset="0"/>
                <a:ea typeface="Calibri" pitchFamily="34" charset="-122"/>
                <a:cs typeface="Calibri" pitchFamily="34" charset="-120"/>
              </a:rPr>
              <a:t>Vehicle + driver sent to a zone on a date</a:t>
            </a:r>
            <a:endParaRPr lang="en-US" sz="1100" dirty="0"/>
          </a:p>
        </p:txBody>
      </p:sp>
      <p:sp>
        <p:nvSpPr>
          <p:cNvPr id="13" name="Shape 9"/>
          <p:cNvSpPr/>
          <p:nvPr/>
        </p:nvSpPr>
        <p:spPr>
          <a:xfrm>
            <a:off x="3319272" y="1943100"/>
            <a:ext cx="640080" cy="0"/>
          </a:xfrm>
          <a:prstGeom prst="line">
            <a:avLst/>
          </a:prstGeom>
          <a:noFill/>
          <a:ln w="25400">
            <a:solidFill>
              <a:srgbClr val="3E9B6E"/>
            </a:solidFill>
            <a:prstDash val="solid"/>
            <a:tailEnd type="triangle"/>
          </a:ln>
        </p:spPr>
      </p:sp>
      <p:sp>
        <p:nvSpPr>
          <p:cNvPr id="14" name="Shape 10"/>
          <p:cNvSpPr/>
          <p:nvPr/>
        </p:nvSpPr>
        <p:spPr>
          <a:xfrm>
            <a:off x="4187952" y="1600200"/>
            <a:ext cx="685800" cy="685800"/>
          </a:xfrm>
          <a:prstGeom prst="ellipse">
            <a:avLst/>
          </a:prstGeom>
          <a:solidFill>
            <a:srgbClr val="1F6B4A"/>
          </a:solidFill>
          <a:ln w="12700">
            <a:solidFill>
              <a:srgbClr val="1F6B4A"/>
            </a:solidFill>
            <a:prstDash val="solid"/>
          </a:ln>
        </p:spPr>
      </p:sp>
      <p:pic>
        <p:nvPicPr>
          <p:cNvPr id="15" name="Image 2" descr="preencoded.png">    </p:cNvPr>
          <p:cNvPicPr>
            <a:picLocks noChangeAspect="1"/>
          </p:cNvPicPr>
          <p:nvPr/>
        </p:nvPicPr>
        <p:blipFill>
          <a:blip r:embed="rId3"/>
          <a:stretch>
            <a:fillRect/>
          </a:stretch>
        </p:blipFill>
        <p:spPr>
          <a:xfrm>
            <a:off x="4359402" y="1771650"/>
            <a:ext cx="342900" cy="342900"/>
          </a:xfrm>
          <a:prstGeom prst="rect">
            <a:avLst/>
          </a:prstGeom>
        </p:spPr>
      </p:pic>
      <p:sp>
        <p:nvSpPr>
          <p:cNvPr id="16" name="Text 11"/>
          <p:cNvSpPr txBox="1"/>
          <p:nvPr/>
        </p:nvSpPr>
        <p:spPr>
          <a:xfrm>
            <a:off x="3803904" y="2423160"/>
            <a:ext cx="1463040" cy="32004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Weighbridge Ticket</a:t>
            </a:r>
            <a:endParaRPr lang="en-US" sz="1300" dirty="0"/>
          </a:p>
        </p:txBody>
      </p:sp>
      <p:sp>
        <p:nvSpPr>
          <p:cNvPr id="17" name="Text 12"/>
          <p:cNvSpPr txBox="1"/>
          <p:nvPr/>
        </p:nvSpPr>
        <p:spPr>
          <a:xfrm>
            <a:off x="3803904" y="2743200"/>
            <a:ext cx="1463040" cy="822960"/>
          </a:xfrm>
          <a:prstGeom prst="rect">
            <a:avLst/>
          </a:prstGeom>
          <a:noFill/>
          <a:ln/>
        </p:spPr>
        <p:txBody>
          <a:bodyPr wrap="square" lIns="0" tIns="0" rIns="0" bIns="0" rtlCol="0" anchor="t"/>
          <a:lstStyle/>
          <a:p>
            <a:pPr algn="ctr" indent="0" marL="0">
              <a:buNone/>
            </a:pPr>
            <a:r>
              <a:rPr lang="en-US" sz="1100" dirty="0">
                <a:solidFill>
                  <a:srgbClr val="5B6B65"/>
                </a:solidFill>
                <a:latin typeface="Calibri" pitchFamily="34" charset="0"/>
                <a:ea typeface="Calibri" pitchFamily="34" charset="-122"/>
                <a:cs typeface="Calibri" pitchFamily="34" charset="-120"/>
              </a:rPr>
              <a:t>Gross − tare = net weight (1 per trip)</a:t>
            </a:r>
            <a:endParaRPr lang="en-US" sz="1100" dirty="0"/>
          </a:p>
        </p:txBody>
      </p:sp>
      <p:sp>
        <p:nvSpPr>
          <p:cNvPr id="18" name="Shape 13"/>
          <p:cNvSpPr/>
          <p:nvPr/>
        </p:nvSpPr>
        <p:spPr>
          <a:xfrm>
            <a:off x="4992624" y="1943100"/>
            <a:ext cx="640080" cy="0"/>
          </a:xfrm>
          <a:prstGeom prst="line">
            <a:avLst/>
          </a:prstGeom>
          <a:noFill/>
          <a:ln w="25400">
            <a:solidFill>
              <a:srgbClr val="3E9B6E"/>
            </a:solidFill>
            <a:prstDash val="solid"/>
            <a:tailEnd type="triangle"/>
          </a:ln>
        </p:spPr>
      </p:sp>
      <p:sp>
        <p:nvSpPr>
          <p:cNvPr id="19" name="Shape 14"/>
          <p:cNvSpPr/>
          <p:nvPr/>
        </p:nvSpPr>
        <p:spPr>
          <a:xfrm>
            <a:off x="5861304" y="1600200"/>
            <a:ext cx="685800" cy="685800"/>
          </a:xfrm>
          <a:prstGeom prst="ellipse">
            <a:avLst/>
          </a:prstGeom>
          <a:solidFill>
            <a:srgbClr val="1F6B4A"/>
          </a:solidFill>
          <a:ln w="12700">
            <a:solidFill>
              <a:srgbClr val="1F6B4A"/>
            </a:solidFill>
            <a:prstDash val="solid"/>
          </a:ln>
        </p:spPr>
      </p:sp>
      <p:pic>
        <p:nvPicPr>
          <p:cNvPr id="20" name="Image 3" descr="preencoded.png">    </p:cNvPr>
          <p:cNvPicPr>
            <a:picLocks noChangeAspect="1"/>
          </p:cNvPicPr>
          <p:nvPr/>
        </p:nvPicPr>
        <p:blipFill>
          <a:blip r:embed="rId4"/>
          <a:stretch>
            <a:fillRect/>
          </a:stretch>
        </p:blipFill>
        <p:spPr>
          <a:xfrm>
            <a:off x="6032754" y="1771650"/>
            <a:ext cx="342900" cy="342900"/>
          </a:xfrm>
          <a:prstGeom prst="rect">
            <a:avLst/>
          </a:prstGeom>
        </p:spPr>
      </p:pic>
      <p:sp>
        <p:nvSpPr>
          <p:cNvPr id="21" name="Text 15"/>
          <p:cNvSpPr txBox="1"/>
          <p:nvPr/>
        </p:nvSpPr>
        <p:spPr>
          <a:xfrm>
            <a:off x="5477256" y="2423160"/>
            <a:ext cx="1463040" cy="32004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Batch Allocation</a:t>
            </a:r>
            <a:endParaRPr lang="en-US" sz="1300" dirty="0"/>
          </a:p>
        </p:txBody>
      </p:sp>
      <p:sp>
        <p:nvSpPr>
          <p:cNvPr id="22" name="Text 16"/>
          <p:cNvSpPr txBox="1"/>
          <p:nvPr/>
        </p:nvSpPr>
        <p:spPr>
          <a:xfrm>
            <a:off x="5477256" y="2743200"/>
            <a:ext cx="1463040" cy="822960"/>
          </a:xfrm>
          <a:prstGeom prst="rect">
            <a:avLst/>
          </a:prstGeom>
          <a:noFill/>
          <a:ln/>
        </p:spPr>
        <p:txBody>
          <a:bodyPr wrap="square" lIns="0" tIns="0" rIns="0" bIns="0" rtlCol="0" anchor="t"/>
          <a:lstStyle/>
          <a:p>
            <a:pPr algn="ctr" indent="0" marL="0">
              <a:buNone/>
            </a:pPr>
            <a:r>
              <a:rPr lang="en-US" sz="1100" dirty="0">
                <a:solidFill>
                  <a:srgbClr val="5B6B65"/>
                </a:solidFill>
                <a:latin typeface="Calibri" pitchFamily="34" charset="0"/>
                <a:ea typeface="Calibri" pitchFamily="34" charset="-122"/>
                <a:cs typeface="Calibri" pitchFamily="34" charset="-120"/>
              </a:rPr>
              <a:t>Net load split by material category</a:t>
            </a:r>
            <a:endParaRPr lang="en-US" sz="1100" dirty="0"/>
          </a:p>
        </p:txBody>
      </p:sp>
      <p:sp>
        <p:nvSpPr>
          <p:cNvPr id="23" name="Shape 17"/>
          <p:cNvSpPr/>
          <p:nvPr/>
        </p:nvSpPr>
        <p:spPr>
          <a:xfrm>
            <a:off x="6665976" y="1943100"/>
            <a:ext cx="640080" cy="0"/>
          </a:xfrm>
          <a:prstGeom prst="line">
            <a:avLst/>
          </a:prstGeom>
          <a:noFill/>
          <a:ln w="25400">
            <a:solidFill>
              <a:srgbClr val="3E9B6E"/>
            </a:solidFill>
            <a:prstDash val="solid"/>
            <a:tailEnd type="triangle"/>
          </a:ln>
        </p:spPr>
      </p:sp>
      <p:sp>
        <p:nvSpPr>
          <p:cNvPr id="24" name="Shape 18"/>
          <p:cNvSpPr/>
          <p:nvPr/>
        </p:nvSpPr>
        <p:spPr>
          <a:xfrm>
            <a:off x="7534656" y="1600200"/>
            <a:ext cx="685800" cy="685800"/>
          </a:xfrm>
          <a:prstGeom prst="ellipse">
            <a:avLst/>
          </a:prstGeom>
          <a:solidFill>
            <a:srgbClr val="1F6B4A"/>
          </a:solidFill>
          <a:ln w="12700">
            <a:solidFill>
              <a:srgbClr val="1F6B4A"/>
            </a:solidFill>
            <a:prstDash val="solid"/>
          </a:ln>
        </p:spPr>
      </p:sp>
      <p:pic>
        <p:nvPicPr>
          <p:cNvPr id="25" name="Image 4" descr="preencoded.png">    </p:cNvPr>
          <p:cNvPicPr>
            <a:picLocks noChangeAspect="1"/>
          </p:cNvPicPr>
          <p:nvPr/>
        </p:nvPicPr>
        <p:blipFill>
          <a:blip r:embed="rId5"/>
          <a:stretch>
            <a:fillRect/>
          </a:stretch>
        </p:blipFill>
        <p:spPr>
          <a:xfrm>
            <a:off x="7706106" y="1771650"/>
            <a:ext cx="342900" cy="342900"/>
          </a:xfrm>
          <a:prstGeom prst="rect">
            <a:avLst/>
          </a:prstGeom>
        </p:spPr>
      </p:pic>
      <p:sp>
        <p:nvSpPr>
          <p:cNvPr id="26" name="Text 19"/>
          <p:cNvSpPr txBox="1"/>
          <p:nvPr/>
        </p:nvSpPr>
        <p:spPr>
          <a:xfrm>
            <a:off x="7150608" y="2423160"/>
            <a:ext cx="1463040" cy="32004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Processing Batch</a:t>
            </a:r>
            <a:endParaRPr lang="en-US" sz="1300" dirty="0"/>
          </a:p>
        </p:txBody>
      </p:sp>
      <p:sp>
        <p:nvSpPr>
          <p:cNvPr id="27" name="Text 20"/>
          <p:cNvSpPr txBox="1"/>
          <p:nvPr/>
        </p:nvSpPr>
        <p:spPr>
          <a:xfrm>
            <a:off x="7150608" y="2743200"/>
            <a:ext cx="1463040" cy="822960"/>
          </a:xfrm>
          <a:prstGeom prst="rect">
            <a:avLst/>
          </a:prstGeom>
          <a:noFill/>
          <a:ln/>
        </p:spPr>
        <p:txBody>
          <a:bodyPr wrap="square" lIns="0" tIns="0" rIns="0" bIns="0" rtlCol="0" anchor="t"/>
          <a:lstStyle/>
          <a:p>
            <a:pPr algn="ctr" indent="0" marL="0">
              <a:buNone/>
            </a:pPr>
            <a:r>
              <a:rPr lang="en-US" sz="1100" dirty="0">
                <a:solidFill>
                  <a:srgbClr val="5B6B65"/>
                </a:solidFill>
                <a:latin typeface="Calibri" pitchFamily="34" charset="0"/>
                <a:ea typeface="Calibri" pitchFamily="34" charset="-122"/>
                <a:cs typeface="Calibri" pitchFamily="34" charset="-120"/>
              </a:rPr>
              <a:t>20,000 kg batches: OPEN → FULL → COMPLETED</a:t>
            </a:r>
            <a:endParaRPr lang="en-US" sz="1100" dirty="0"/>
          </a:p>
        </p:txBody>
      </p:sp>
      <p:sp>
        <p:nvSpPr>
          <p:cNvPr id="28" name="Shape 21"/>
          <p:cNvSpPr/>
          <p:nvPr/>
        </p:nvSpPr>
        <p:spPr>
          <a:xfrm>
            <a:off x="457200" y="3749040"/>
            <a:ext cx="8229600" cy="731520"/>
          </a:xfrm>
          <a:prstGeom prst="roundRect">
            <a:avLst>
              <a:gd name="adj" fmla="val 10000"/>
            </a:avLst>
          </a:prstGeom>
          <a:solidFill>
            <a:srgbClr val="EEF6F0"/>
          </a:solidFill>
          <a:ln w="12700">
            <a:solidFill>
              <a:srgbClr val="EEF6F0"/>
            </a:solidFill>
            <a:prstDash val="solid"/>
          </a:ln>
        </p:spPr>
      </p:sp>
      <p:sp>
        <p:nvSpPr>
          <p:cNvPr id="29" name="Text 22"/>
          <p:cNvSpPr txBox="1"/>
          <p:nvPr/>
        </p:nvSpPr>
        <p:spPr>
          <a:xfrm>
            <a:off x="685800" y="3886200"/>
            <a:ext cx="7772400" cy="457200"/>
          </a:xfrm>
          <a:prstGeom prst="rect">
            <a:avLst/>
          </a:prstGeom>
          <a:noFill/>
          <a:ln/>
        </p:spPr>
        <p:txBody>
          <a:bodyPr wrap="square" lIns="0" tIns="0" rIns="0" bIns="0" rtlCol="0" anchor="ctr"/>
          <a:lstStyle/>
          <a:p>
            <a:pPr indent="0" marL="0">
              <a:buNone/>
            </a:pPr>
            <a:r>
              <a:rPr lang="en-US" sz="1400" b="1" dirty="0">
                <a:solidFill>
                  <a:srgbClr val="1F6B4A"/>
                </a:solidFill>
                <a:latin typeface="Calibri" pitchFamily="34" charset="0"/>
                <a:ea typeface="Calibri" pitchFamily="34" charset="-122"/>
                <a:cs typeface="Calibri" pitchFamily="34" charset="-120"/>
              </a:rPr>
              <a:t>Traceability: </a:t>
            </a:r>
            <a:pPr indent="0" marL="0">
              <a:buNone/>
            </a:pPr>
            <a:r>
              <a:rPr lang="en-US" sz="1400" dirty="0">
                <a:solidFill>
                  <a:srgbClr val="1E2A26"/>
                </a:solidFill>
                <a:latin typeface="Calibri" pitchFamily="34" charset="0"/>
                <a:ea typeface="Calibri" pitchFamily="34" charset="-122"/>
                <a:cs typeface="Calibri" pitchFamily="34" charset="-120"/>
              </a:rPr>
              <a:t>every kilogram in a processing batch traces back to its ticket, trip, vehicle, driver and zone.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ER Diagram</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6F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Relational Schema</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PK = primary key · FK = foreign key · UQ = unique</a:t>
            </a:r>
            <a:endParaRPr lang="en-US" sz="1300" dirty="0"/>
          </a:p>
        </p:txBody>
      </p:sp>
      <p:sp>
        <p:nvSpPr>
          <p:cNvPr id="4" name="Shape 2"/>
          <p:cNvSpPr/>
          <p:nvPr/>
        </p:nvSpPr>
        <p:spPr>
          <a:xfrm>
            <a:off x="457200" y="1280160"/>
            <a:ext cx="4023360" cy="777240"/>
          </a:xfrm>
          <a:prstGeom prst="roundRect">
            <a:avLst>
              <a:gd name="adj" fmla="val 9412"/>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621792" y="1517904"/>
            <a:ext cx="292608" cy="292608"/>
          </a:xfrm>
          <a:prstGeom prst="rect">
            <a:avLst/>
          </a:prstGeom>
        </p:spPr>
      </p:pic>
      <p:sp>
        <p:nvSpPr>
          <p:cNvPr id="6" name="Text 3"/>
          <p:cNvSpPr txBox="1"/>
          <p:nvPr/>
        </p:nvSpPr>
        <p:spPr>
          <a:xfrm>
            <a:off x="1051560" y="1371600"/>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ZONE</a:t>
            </a:r>
            <a:endParaRPr lang="en-US" sz="1300" dirty="0"/>
          </a:p>
        </p:txBody>
      </p:sp>
      <p:sp>
        <p:nvSpPr>
          <p:cNvPr id="7" name="Text 4"/>
          <p:cNvSpPr txBox="1"/>
          <p:nvPr/>
        </p:nvSpPr>
        <p:spPr>
          <a:xfrm>
            <a:off x="1051560" y="1627632"/>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zone_id PK, zone_name UQ, location, description, supervisor_contact</a:t>
            </a:r>
            <a:endParaRPr lang="en-US" sz="1000" dirty="0"/>
          </a:p>
        </p:txBody>
      </p:sp>
      <p:sp>
        <p:nvSpPr>
          <p:cNvPr id="8" name="Shape 5"/>
          <p:cNvSpPr/>
          <p:nvPr/>
        </p:nvSpPr>
        <p:spPr>
          <a:xfrm>
            <a:off x="4663440" y="1280160"/>
            <a:ext cx="4023360" cy="777240"/>
          </a:xfrm>
          <a:prstGeom prst="roundRect">
            <a:avLst>
              <a:gd name="adj" fmla="val 9412"/>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4828032" y="1517904"/>
            <a:ext cx="292608" cy="292608"/>
          </a:xfrm>
          <a:prstGeom prst="rect">
            <a:avLst/>
          </a:prstGeom>
        </p:spPr>
      </p:pic>
      <p:sp>
        <p:nvSpPr>
          <p:cNvPr id="10" name="Text 6"/>
          <p:cNvSpPr txBox="1"/>
          <p:nvPr/>
        </p:nvSpPr>
        <p:spPr>
          <a:xfrm>
            <a:off x="5257800" y="1371600"/>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VEHICLE</a:t>
            </a:r>
            <a:endParaRPr lang="en-US" sz="1300" dirty="0"/>
          </a:p>
        </p:txBody>
      </p:sp>
      <p:sp>
        <p:nvSpPr>
          <p:cNvPr id="11" name="Text 7"/>
          <p:cNvSpPr txBox="1"/>
          <p:nvPr/>
        </p:nvSpPr>
        <p:spPr>
          <a:xfrm>
            <a:off x="5257800" y="1627632"/>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vehicle_id PK, vehicle_number UQ, vehicle_type, capacity_kg, status</a:t>
            </a:r>
            <a:endParaRPr lang="en-US" sz="1000" dirty="0"/>
          </a:p>
        </p:txBody>
      </p:sp>
      <p:sp>
        <p:nvSpPr>
          <p:cNvPr id="12" name="Shape 8"/>
          <p:cNvSpPr/>
          <p:nvPr/>
        </p:nvSpPr>
        <p:spPr>
          <a:xfrm>
            <a:off x="457200" y="2176272"/>
            <a:ext cx="4023360" cy="777240"/>
          </a:xfrm>
          <a:prstGeom prst="roundRect">
            <a:avLst>
              <a:gd name="adj" fmla="val 9412"/>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621792" y="2414016"/>
            <a:ext cx="292608" cy="292608"/>
          </a:xfrm>
          <a:prstGeom prst="rect">
            <a:avLst/>
          </a:prstGeom>
        </p:spPr>
      </p:pic>
      <p:sp>
        <p:nvSpPr>
          <p:cNvPr id="14" name="Text 9"/>
          <p:cNvSpPr txBox="1"/>
          <p:nvPr/>
        </p:nvSpPr>
        <p:spPr>
          <a:xfrm>
            <a:off x="1051560" y="2267712"/>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DRIVER</a:t>
            </a:r>
            <a:endParaRPr lang="en-US" sz="1300" dirty="0"/>
          </a:p>
        </p:txBody>
      </p:sp>
      <p:sp>
        <p:nvSpPr>
          <p:cNvPr id="15" name="Text 10"/>
          <p:cNvSpPr txBox="1"/>
          <p:nvPr/>
        </p:nvSpPr>
        <p:spPr>
          <a:xfrm>
            <a:off x="1051560" y="2523744"/>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driver_id PK, driver_name, license_number UQ, license_expiry, status</a:t>
            </a:r>
            <a:endParaRPr lang="en-US" sz="1000" dirty="0"/>
          </a:p>
        </p:txBody>
      </p:sp>
      <p:sp>
        <p:nvSpPr>
          <p:cNvPr id="16" name="Shape 11"/>
          <p:cNvSpPr/>
          <p:nvPr/>
        </p:nvSpPr>
        <p:spPr>
          <a:xfrm>
            <a:off x="4663440" y="2176272"/>
            <a:ext cx="4023360" cy="777240"/>
          </a:xfrm>
          <a:prstGeom prst="roundRect">
            <a:avLst>
              <a:gd name="adj" fmla="val 9412"/>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4828032" y="2414016"/>
            <a:ext cx="292608" cy="292608"/>
          </a:xfrm>
          <a:prstGeom prst="rect">
            <a:avLst/>
          </a:prstGeom>
        </p:spPr>
      </p:pic>
      <p:sp>
        <p:nvSpPr>
          <p:cNvPr id="18" name="Text 12"/>
          <p:cNvSpPr txBox="1"/>
          <p:nvPr/>
        </p:nvSpPr>
        <p:spPr>
          <a:xfrm>
            <a:off x="5257800" y="2267712"/>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MATERIAL_CATEGORY</a:t>
            </a:r>
            <a:endParaRPr lang="en-US" sz="1300" dirty="0"/>
          </a:p>
        </p:txBody>
      </p:sp>
      <p:sp>
        <p:nvSpPr>
          <p:cNvPr id="19" name="Text 13"/>
          <p:cNvSpPr txBox="1"/>
          <p:nvPr/>
        </p:nvSpPr>
        <p:spPr>
          <a:xfrm>
            <a:off x="5257800" y="2523744"/>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material_id PK, material_name UQ, recovery_value, is_recyclable</a:t>
            </a:r>
            <a:endParaRPr lang="en-US" sz="1000" dirty="0"/>
          </a:p>
        </p:txBody>
      </p:sp>
      <p:sp>
        <p:nvSpPr>
          <p:cNvPr id="20" name="Shape 14"/>
          <p:cNvSpPr/>
          <p:nvPr/>
        </p:nvSpPr>
        <p:spPr>
          <a:xfrm>
            <a:off x="457200" y="3072384"/>
            <a:ext cx="4023360" cy="777240"/>
          </a:xfrm>
          <a:prstGeom prst="roundRect">
            <a:avLst>
              <a:gd name="adj" fmla="val 9412"/>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621792" y="3310128"/>
            <a:ext cx="292608" cy="292608"/>
          </a:xfrm>
          <a:prstGeom prst="rect">
            <a:avLst/>
          </a:prstGeom>
        </p:spPr>
      </p:pic>
      <p:sp>
        <p:nvSpPr>
          <p:cNvPr id="22" name="Text 15"/>
          <p:cNvSpPr txBox="1"/>
          <p:nvPr/>
        </p:nvSpPr>
        <p:spPr>
          <a:xfrm>
            <a:off x="1051560" y="3163824"/>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TRIP</a:t>
            </a:r>
            <a:endParaRPr lang="en-US" sz="1300" dirty="0"/>
          </a:p>
        </p:txBody>
      </p:sp>
      <p:sp>
        <p:nvSpPr>
          <p:cNvPr id="23" name="Text 16"/>
          <p:cNvSpPr txBox="1"/>
          <p:nvPr/>
        </p:nvSpPr>
        <p:spPr>
          <a:xfrm>
            <a:off x="1051560" y="3419856"/>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trip_id PK, vehicle_id FK, driver_id FK, zone_id FK, trip_date, status</a:t>
            </a:r>
            <a:endParaRPr lang="en-US" sz="1000" dirty="0"/>
          </a:p>
        </p:txBody>
      </p:sp>
      <p:sp>
        <p:nvSpPr>
          <p:cNvPr id="24" name="Shape 17"/>
          <p:cNvSpPr/>
          <p:nvPr/>
        </p:nvSpPr>
        <p:spPr>
          <a:xfrm>
            <a:off x="4663440" y="3072384"/>
            <a:ext cx="4023360" cy="777240"/>
          </a:xfrm>
          <a:prstGeom prst="roundRect">
            <a:avLst>
              <a:gd name="adj" fmla="val 9412"/>
            </a:avLst>
          </a:prstGeom>
          <a:solidFill>
            <a:srgbClr val="FFFFFF"/>
          </a:solidFill>
          <a:ln w="1270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4828032" y="3310128"/>
            <a:ext cx="292608" cy="292608"/>
          </a:xfrm>
          <a:prstGeom prst="rect">
            <a:avLst/>
          </a:prstGeom>
        </p:spPr>
      </p:pic>
      <p:sp>
        <p:nvSpPr>
          <p:cNvPr id="26" name="Text 18"/>
          <p:cNvSpPr txBox="1"/>
          <p:nvPr/>
        </p:nvSpPr>
        <p:spPr>
          <a:xfrm>
            <a:off x="5257800" y="3163824"/>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WEIGHBRIDGE_TICKET</a:t>
            </a:r>
            <a:endParaRPr lang="en-US" sz="1300" dirty="0"/>
          </a:p>
        </p:txBody>
      </p:sp>
      <p:sp>
        <p:nvSpPr>
          <p:cNvPr id="27" name="Text 19"/>
          <p:cNvSpPr txBox="1"/>
          <p:nvPr/>
        </p:nvSpPr>
        <p:spPr>
          <a:xfrm>
            <a:off x="5257800" y="3419856"/>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ticket_id PK, trip_id FK UQ, gross/tare/net_weight_kg, ticket_status</a:t>
            </a:r>
            <a:endParaRPr lang="en-US" sz="1000" dirty="0"/>
          </a:p>
        </p:txBody>
      </p:sp>
      <p:sp>
        <p:nvSpPr>
          <p:cNvPr id="28" name="Shape 20"/>
          <p:cNvSpPr/>
          <p:nvPr/>
        </p:nvSpPr>
        <p:spPr>
          <a:xfrm>
            <a:off x="457200" y="3968496"/>
            <a:ext cx="4023360" cy="777240"/>
          </a:xfrm>
          <a:prstGeom prst="roundRect">
            <a:avLst>
              <a:gd name="adj" fmla="val 9412"/>
            </a:avLst>
          </a:prstGeom>
          <a:solidFill>
            <a:srgbClr val="FFFFFF"/>
          </a:solidFill>
          <a:ln w="12700">
            <a:solidFill>
              <a:srgbClr val="FFFFFF"/>
            </a:solidFill>
            <a:prstDash val="solid"/>
          </a:ln>
        </p:spPr>
      </p:sp>
      <p:pic>
        <p:nvPicPr>
          <p:cNvPr id="29" name="Image 6" descr="preencoded.png">    </p:cNvPr>
          <p:cNvPicPr>
            <a:picLocks noChangeAspect="1"/>
          </p:cNvPicPr>
          <p:nvPr/>
        </p:nvPicPr>
        <p:blipFill>
          <a:blip r:embed="rId7"/>
          <a:stretch>
            <a:fillRect/>
          </a:stretch>
        </p:blipFill>
        <p:spPr>
          <a:xfrm>
            <a:off x="621792" y="4206240"/>
            <a:ext cx="292608" cy="292608"/>
          </a:xfrm>
          <a:prstGeom prst="rect">
            <a:avLst/>
          </a:prstGeom>
        </p:spPr>
      </p:pic>
      <p:sp>
        <p:nvSpPr>
          <p:cNvPr id="30" name="Text 21"/>
          <p:cNvSpPr txBox="1"/>
          <p:nvPr/>
        </p:nvSpPr>
        <p:spPr>
          <a:xfrm>
            <a:off x="1051560" y="4059936"/>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PROCESSING_BATCH</a:t>
            </a:r>
            <a:endParaRPr lang="en-US" sz="1300" dirty="0"/>
          </a:p>
        </p:txBody>
      </p:sp>
      <p:sp>
        <p:nvSpPr>
          <p:cNvPr id="31" name="Text 22"/>
          <p:cNvSpPr txBox="1"/>
          <p:nvPr/>
        </p:nvSpPr>
        <p:spPr>
          <a:xfrm>
            <a:off x="1051560" y="4315968"/>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batch_id PK, batch_date, batch_capacity_kg, current_load_kg, status</a:t>
            </a:r>
            <a:endParaRPr lang="en-US" sz="1000" dirty="0"/>
          </a:p>
        </p:txBody>
      </p:sp>
      <p:sp>
        <p:nvSpPr>
          <p:cNvPr id="32" name="Shape 23"/>
          <p:cNvSpPr/>
          <p:nvPr/>
        </p:nvSpPr>
        <p:spPr>
          <a:xfrm>
            <a:off x="4663440" y="3968496"/>
            <a:ext cx="4023360" cy="777240"/>
          </a:xfrm>
          <a:prstGeom prst="roundRect">
            <a:avLst>
              <a:gd name="adj" fmla="val 9412"/>
            </a:avLst>
          </a:prstGeom>
          <a:solidFill>
            <a:srgbClr val="FFFFFF"/>
          </a:solidFill>
          <a:ln w="12700">
            <a:solidFill>
              <a:srgbClr val="FFFFFF"/>
            </a:solidFill>
            <a:prstDash val="solid"/>
          </a:ln>
        </p:spPr>
      </p:sp>
      <p:pic>
        <p:nvPicPr>
          <p:cNvPr id="33" name="Image 7" descr="preencoded.png">    </p:cNvPr>
          <p:cNvPicPr>
            <a:picLocks noChangeAspect="1"/>
          </p:cNvPicPr>
          <p:nvPr/>
        </p:nvPicPr>
        <p:blipFill>
          <a:blip r:embed="rId8"/>
          <a:stretch>
            <a:fillRect/>
          </a:stretch>
        </p:blipFill>
        <p:spPr>
          <a:xfrm>
            <a:off x="4828032" y="4206240"/>
            <a:ext cx="292608" cy="292608"/>
          </a:xfrm>
          <a:prstGeom prst="rect">
            <a:avLst/>
          </a:prstGeom>
        </p:spPr>
      </p:pic>
      <p:sp>
        <p:nvSpPr>
          <p:cNvPr id="34" name="Text 24"/>
          <p:cNvSpPr txBox="1"/>
          <p:nvPr/>
        </p:nvSpPr>
        <p:spPr>
          <a:xfrm>
            <a:off x="5257800" y="4059936"/>
            <a:ext cx="3291840" cy="256032"/>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BATCH_ALLOCATION</a:t>
            </a:r>
            <a:endParaRPr lang="en-US" sz="1300" dirty="0"/>
          </a:p>
        </p:txBody>
      </p:sp>
      <p:sp>
        <p:nvSpPr>
          <p:cNvPr id="35" name="Text 25"/>
          <p:cNvSpPr txBox="1"/>
          <p:nvPr/>
        </p:nvSpPr>
        <p:spPr>
          <a:xfrm>
            <a:off x="5257800" y="4315968"/>
            <a:ext cx="3337560" cy="384048"/>
          </a:xfrm>
          <a:prstGeom prst="rect">
            <a:avLst/>
          </a:prstGeom>
          <a:noFill/>
          <a:ln/>
        </p:spPr>
        <p:txBody>
          <a:bodyPr wrap="square" lIns="0" tIns="0" rIns="0" bIns="0" rtlCol="0" anchor="t"/>
          <a:lstStyle/>
          <a:p>
            <a:pPr indent="0" marL="0">
              <a:buNone/>
            </a:pPr>
            <a:r>
              <a:rPr lang="en-US" sz="1000" dirty="0">
                <a:solidFill>
                  <a:srgbClr val="5B6B65"/>
                </a:solidFill>
                <a:latin typeface="Courier New" pitchFamily="34" charset="0"/>
                <a:ea typeface="Courier New" pitchFamily="34" charset="-122"/>
                <a:cs typeface="Courier New" pitchFamily="34" charset="-120"/>
              </a:rPr>
              <a:t>allocation_id PK, batch_id FK, ticket_id FK, material_id FK, allocated_weight_kg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Normalization up to 3NF</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Removing redundancy step by step</a:t>
            </a:r>
            <a:endParaRPr lang="en-US" sz="1300" dirty="0"/>
          </a:p>
        </p:txBody>
      </p:sp>
      <p:sp>
        <p:nvSpPr>
          <p:cNvPr id="4" name="Shape 2"/>
          <p:cNvSpPr/>
          <p:nvPr/>
        </p:nvSpPr>
        <p:spPr>
          <a:xfrm>
            <a:off x="457200" y="1325880"/>
            <a:ext cx="2606040" cy="2377440"/>
          </a:xfrm>
          <a:prstGeom prst="roundRect">
            <a:avLst>
              <a:gd name="adj" fmla="val 3077"/>
            </a:avLst>
          </a:prstGeom>
          <a:solidFill>
            <a:srgbClr val="EEF6F0"/>
          </a:solidFill>
          <a:ln w="12700">
            <a:solidFill>
              <a:srgbClr val="EEF6F0"/>
            </a:solidFill>
            <a:prstDash val="solid"/>
          </a:ln>
        </p:spPr>
      </p:sp>
      <p:sp>
        <p:nvSpPr>
          <p:cNvPr id="5" name="Shape 3"/>
          <p:cNvSpPr/>
          <p:nvPr/>
        </p:nvSpPr>
        <p:spPr>
          <a:xfrm>
            <a:off x="685800" y="1508760"/>
            <a:ext cx="777240" cy="777240"/>
          </a:xfrm>
          <a:prstGeom prst="ellipse">
            <a:avLst/>
          </a:prstGeom>
          <a:solidFill>
            <a:srgbClr val="3E9B6E"/>
          </a:solidFill>
          <a:ln w="12700">
            <a:solidFill>
              <a:srgbClr val="3E9B6E"/>
            </a:solidFill>
            <a:prstDash val="solid"/>
          </a:ln>
        </p:spPr>
      </p:sp>
      <p:sp>
        <p:nvSpPr>
          <p:cNvPr id="6" name="Text 4"/>
          <p:cNvSpPr txBox="1"/>
          <p:nvPr/>
        </p:nvSpPr>
        <p:spPr>
          <a:xfrm>
            <a:off x="685800" y="1508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1NF</a:t>
            </a:r>
            <a:endParaRPr lang="en-US" sz="1800" dirty="0"/>
          </a:p>
        </p:txBody>
      </p:sp>
      <p:sp>
        <p:nvSpPr>
          <p:cNvPr id="7" name="Text 5"/>
          <p:cNvSpPr txBox="1"/>
          <p:nvPr/>
        </p:nvSpPr>
        <p:spPr>
          <a:xfrm>
            <a:off x="685800" y="2423160"/>
            <a:ext cx="2194560" cy="32004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Atomic values</a:t>
            </a:r>
            <a:endParaRPr lang="en-US" sz="1500" dirty="0"/>
          </a:p>
        </p:txBody>
      </p:sp>
      <p:sp>
        <p:nvSpPr>
          <p:cNvPr id="8" name="Text 6"/>
          <p:cNvSpPr txBox="1"/>
          <p:nvPr/>
        </p:nvSpPr>
        <p:spPr>
          <a:xfrm>
            <a:off x="685800" y="2743200"/>
            <a:ext cx="2194560" cy="9144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Each material split of a load is its own row in BATCH_ALLOCATION, not a list in one cell.</a:t>
            </a:r>
            <a:endParaRPr lang="en-US" sz="1200" dirty="0"/>
          </a:p>
        </p:txBody>
      </p:sp>
      <p:sp>
        <p:nvSpPr>
          <p:cNvPr id="9" name="Shape 7"/>
          <p:cNvSpPr/>
          <p:nvPr/>
        </p:nvSpPr>
        <p:spPr>
          <a:xfrm>
            <a:off x="3081528" y="2514600"/>
            <a:ext cx="164592" cy="0"/>
          </a:xfrm>
          <a:prstGeom prst="line">
            <a:avLst/>
          </a:prstGeom>
          <a:noFill/>
          <a:ln w="25400">
            <a:solidFill>
              <a:srgbClr val="3E9B6E"/>
            </a:solidFill>
            <a:prstDash val="solid"/>
            <a:tailEnd type="triangle"/>
          </a:ln>
        </p:spPr>
      </p:sp>
      <p:sp>
        <p:nvSpPr>
          <p:cNvPr id="10" name="Shape 8"/>
          <p:cNvSpPr/>
          <p:nvPr/>
        </p:nvSpPr>
        <p:spPr>
          <a:xfrm>
            <a:off x="3264408" y="1325880"/>
            <a:ext cx="2606040" cy="2377440"/>
          </a:xfrm>
          <a:prstGeom prst="roundRect">
            <a:avLst>
              <a:gd name="adj" fmla="val 3077"/>
            </a:avLst>
          </a:prstGeom>
          <a:solidFill>
            <a:srgbClr val="EEF6F0"/>
          </a:solidFill>
          <a:ln w="12700">
            <a:solidFill>
              <a:srgbClr val="EEF6F0"/>
            </a:solidFill>
            <a:prstDash val="solid"/>
          </a:ln>
        </p:spPr>
      </p:sp>
      <p:sp>
        <p:nvSpPr>
          <p:cNvPr id="11" name="Shape 9"/>
          <p:cNvSpPr/>
          <p:nvPr/>
        </p:nvSpPr>
        <p:spPr>
          <a:xfrm>
            <a:off x="3493008" y="1508760"/>
            <a:ext cx="777240" cy="777240"/>
          </a:xfrm>
          <a:prstGeom prst="ellipse">
            <a:avLst/>
          </a:prstGeom>
          <a:solidFill>
            <a:srgbClr val="3E9B6E"/>
          </a:solidFill>
          <a:ln w="12700">
            <a:solidFill>
              <a:srgbClr val="3E9B6E"/>
            </a:solidFill>
            <a:prstDash val="solid"/>
          </a:ln>
        </p:spPr>
      </p:sp>
      <p:sp>
        <p:nvSpPr>
          <p:cNvPr id="12" name="Text 10"/>
          <p:cNvSpPr txBox="1"/>
          <p:nvPr/>
        </p:nvSpPr>
        <p:spPr>
          <a:xfrm>
            <a:off x="3493008" y="1508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2NF</a:t>
            </a:r>
            <a:endParaRPr lang="en-US" sz="1800" dirty="0"/>
          </a:p>
        </p:txBody>
      </p:sp>
      <p:sp>
        <p:nvSpPr>
          <p:cNvPr id="13" name="Text 11"/>
          <p:cNvSpPr txBox="1"/>
          <p:nvPr/>
        </p:nvSpPr>
        <p:spPr>
          <a:xfrm>
            <a:off x="3493008" y="2423160"/>
            <a:ext cx="2194560" cy="32004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No partial dependency</a:t>
            </a:r>
            <a:endParaRPr lang="en-US" sz="1500" dirty="0"/>
          </a:p>
        </p:txBody>
      </p:sp>
      <p:sp>
        <p:nvSpPr>
          <p:cNvPr id="14" name="Text 12"/>
          <p:cNvSpPr txBox="1"/>
          <p:nvPr/>
        </p:nvSpPr>
        <p:spPr>
          <a:xfrm>
            <a:off x="3493008" y="2743200"/>
            <a:ext cx="2194560" cy="9144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Single-column SERIAL keys, so every non-key column depends on the whole key.</a:t>
            </a:r>
            <a:endParaRPr lang="en-US" sz="1200" dirty="0"/>
          </a:p>
        </p:txBody>
      </p:sp>
      <p:sp>
        <p:nvSpPr>
          <p:cNvPr id="15" name="Shape 13"/>
          <p:cNvSpPr/>
          <p:nvPr/>
        </p:nvSpPr>
        <p:spPr>
          <a:xfrm>
            <a:off x="5888736" y="2514600"/>
            <a:ext cx="164592" cy="0"/>
          </a:xfrm>
          <a:prstGeom prst="line">
            <a:avLst/>
          </a:prstGeom>
          <a:noFill/>
          <a:ln w="25400">
            <a:solidFill>
              <a:srgbClr val="3E9B6E"/>
            </a:solidFill>
            <a:prstDash val="solid"/>
            <a:tailEnd type="triangle"/>
          </a:ln>
        </p:spPr>
      </p:sp>
      <p:sp>
        <p:nvSpPr>
          <p:cNvPr id="16" name="Shape 14"/>
          <p:cNvSpPr/>
          <p:nvPr/>
        </p:nvSpPr>
        <p:spPr>
          <a:xfrm>
            <a:off x="6071616" y="1325880"/>
            <a:ext cx="2606040" cy="2377440"/>
          </a:xfrm>
          <a:prstGeom prst="roundRect">
            <a:avLst>
              <a:gd name="adj" fmla="val 3077"/>
            </a:avLst>
          </a:prstGeom>
          <a:solidFill>
            <a:srgbClr val="EEF6F0"/>
          </a:solidFill>
          <a:ln w="12700">
            <a:solidFill>
              <a:srgbClr val="EEF6F0"/>
            </a:solidFill>
            <a:prstDash val="solid"/>
          </a:ln>
        </p:spPr>
      </p:sp>
      <p:sp>
        <p:nvSpPr>
          <p:cNvPr id="17" name="Shape 15"/>
          <p:cNvSpPr/>
          <p:nvPr/>
        </p:nvSpPr>
        <p:spPr>
          <a:xfrm>
            <a:off x="6300216" y="1508760"/>
            <a:ext cx="777240" cy="777240"/>
          </a:xfrm>
          <a:prstGeom prst="ellipse">
            <a:avLst/>
          </a:prstGeom>
          <a:solidFill>
            <a:srgbClr val="1F6B4A"/>
          </a:solidFill>
          <a:ln w="12700">
            <a:solidFill>
              <a:srgbClr val="1F6B4A"/>
            </a:solidFill>
            <a:prstDash val="solid"/>
          </a:ln>
        </p:spPr>
      </p:sp>
      <p:sp>
        <p:nvSpPr>
          <p:cNvPr id="18" name="Text 16"/>
          <p:cNvSpPr txBox="1"/>
          <p:nvPr/>
        </p:nvSpPr>
        <p:spPr>
          <a:xfrm>
            <a:off x="6300216" y="1508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3NF</a:t>
            </a:r>
            <a:endParaRPr lang="en-US" sz="1800" dirty="0"/>
          </a:p>
        </p:txBody>
      </p:sp>
      <p:sp>
        <p:nvSpPr>
          <p:cNvPr id="19" name="Text 17"/>
          <p:cNvSpPr txBox="1"/>
          <p:nvPr/>
        </p:nvSpPr>
        <p:spPr>
          <a:xfrm>
            <a:off x="6300216" y="2423160"/>
            <a:ext cx="2194560" cy="32004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No transitive dependency</a:t>
            </a:r>
            <a:endParaRPr lang="en-US" sz="1500" dirty="0"/>
          </a:p>
        </p:txBody>
      </p:sp>
      <p:sp>
        <p:nvSpPr>
          <p:cNvPr id="20" name="Text 18"/>
          <p:cNvSpPr txBox="1"/>
          <p:nvPr/>
        </p:nvSpPr>
        <p:spPr>
          <a:xfrm>
            <a:off x="6300216" y="2743200"/>
            <a:ext cx="2194560" cy="91440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TRIP stores only zone_id; zone_name and supervisor live in ZONE.</a:t>
            </a:r>
            <a:endParaRPr lang="en-US" sz="1200" dirty="0"/>
          </a:p>
        </p:txBody>
      </p:sp>
      <p:sp>
        <p:nvSpPr>
          <p:cNvPr id="21" name="Shape 19"/>
          <p:cNvSpPr/>
          <p:nvPr/>
        </p:nvSpPr>
        <p:spPr>
          <a:xfrm>
            <a:off x="457200" y="3931920"/>
            <a:ext cx="8229600" cy="777240"/>
          </a:xfrm>
          <a:prstGeom prst="roundRect">
            <a:avLst>
              <a:gd name="adj" fmla="val 9412"/>
            </a:avLst>
          </a:prstGeom>
          <a:solidFill>
            <a:srgbClr val="14342B"/>
          </a:solidFill>
          <a:ln w="12700">
            <a:solidFill>
              <a:srgbClr val="14342B"/>
            </a:solidFill>
            <a:prstDash val="solid"/>
          </a:ln>
        </p:spPr>
      </p:sp>
      <p:sp>
        <p:nvSpPr>
          <p:cNvPr id="22" name="Text 20"/>
          <p:cNvSpPr txBox="1"/>
          <p:nvPr/>
        </p:nvSpPr>
        <p:spPr>
          <a:xfrm>
            <a:off x="685800" y="4023360"/>
            <a:ext cx="7772400" cy="594360"/>
          </a:xfrm>
          <a:prstGeom prst="rect">
            <a:avLst/>
          </a:prstGeom>
          <a:noFill/>
          <a:ln/>
        </p:spPr>
        <p:txBody>
          <a:bodyPr wrap="square" lIns="0" tIns="0" rIns="0" bIns="0" rtlCol="0" anchor="ctr"/>
          <a:lstStyle/>
          <a:p>
            <a:pPr indent="0" marL="0">
              <a:buNone/>
            </a:pPr>
            <a:r>
              <a:rPr lang="en-US" sz="1300" b="1" dirty="0">
                <a:solidFill>
                  <a:srgbClr val="A8D84E"/>
                </a:solidFill>
                <a:latin typeface="Calibri" pitchFamily="34" charset="0"/>
                <a:ea typeface="Calibri" pitchFamily="34" charset="-122"/>
                <a:cs typeface="Calibri" pitchFamily="34" charset="-120"/>
              </a:rPr>
              <a:t>M:N resolved: </a:t>
            </a:r>
            <a:pPr indent="0" marL="0">
              <a:buNone/>
            </a:pPr>
            <a:r>
              <a:rPr lang="en-US" sz="1300" dirty="0">
                <a:solidFill>
                  <a:srgbClr val="FFFFFF"/>
                </a:solidFill>
                <a:latin typeface="Calibri" pitchFamily="34" charset="0"/>
                <a:ea typeface="Calibri" pitchFamily="34" charset="-122"/>
                <a:cs typeface="Calibri" pitchFamily="34" charset="-120"/>
              </a:rPr>
              <a:t>a ticket can go to many batches and a batch holds many tickets, so BATCH_ALLOCATION links them with batch_id, ticket_id and material_id.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Constraints &amp; Data Integrity</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Rules enforced by the database itself, not the application</a:t>
            </a:r>
            <a:endParaRPr lang="en-US" sz="1300" dirty="0"/>
          </a:p>
        </p:txBody>
      </p:sp>
      <p:sp>
        <p:nvSpPr>
          <p:cNvPr id="4" name="Shape 2"/>
          <p:cNvSpPr/>
          <p:nvPr/>
        </p:nvSpPr>
        <p:spPr>
          <a:xfrm>
            <a:off x="457200" y="1325880"/>
            <a:ext cx="3840480" cy="731520"/>
          </a:xfrm>
          <a:prstGeom prst="roundRect">
            <a:avLst>
              <a:gd name="adj" fmla="val 10000"/>
            </a:avLst>
          </a:prstGeom>
          <a:solidFill>
            <a:srgbClr val="EEF6F0"/>
          </a:solidFill>
          <a:ln w="12700">
            <a:solidFill>
              <a:srgbClr val="EEF6F0"/>
            </a:solidFill>
            <a:prstDash val="solid"/>
          </a:ln>
        </p:spPr>
      </p:sp>
      <p:sp>
        <p:nvSpPr>
          <p:cNvPr id="5" name="Text 3"/>
          <p:cNvSpPr txBox="1"/>
          <p:nvPr/>
        </p:nvSpPr>
        <p:spPr>
          <a:xfrm>
            <a:off x="640080" y="1325880"/>
            <a:ext cx="822960" cy="731520"/>
          </a:xfrm>
          <a:prstGeom prst="rect">
            <a:avLst/>
          </a:prstGeom>
          <a:noFill/>
          <a:ln/>
        </p:spPr>
        <p:txBody>
          <a:bodyPr wrap="square" lIns="0" tIns="0" rIns="0" bIns="0" rtlCol="0" anchor="ctr"/>
          <a:lstStyle/>
          <a:p>
            <a:pPr indent="0" marL="0">
              <a:buNone/>
            </a:pPr>
            <a:r>
              <a:rPr lang="en-US" sz="3000" b="1" dirty="0">
                <a:solidFill>
                  <a:srgbClr val="1F6B4A"/>
                </a:solidFill>
                <a:latin typeface="Cambria" pitchFamily="34" charset="0"/>
                <a:ea typeface="Cambria" pitchFamily="34" charset="-122"/>
                <a:cs typeface="Cambria" pitchFamily="34" charset="-120"/>
              </a:rPr>
              <a:t>8</a:t>
            </a:r>
            <a:endParaRPr lang="en-US" sz="3000" dirty="0"/>
          </a:p>
        </p:txBody>
      </p:sp>
      <p:sp>
        <p:nvSpPr>
          <p:cNvPr id="6" name="Text 4"/>
          <p:cNvSpPr txBox="1"/>
          <p:nvPr/>
        </p:nvSpPr>
        <p:spPr>
          <a:xfrm>
            <a:off x="1554480" y="1435608"/>
            <a:ext cx="265176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PRIMARY KEY</a:t>
            </a:r>
            <a:endParaRPr lang="en-US" sz="1400" dirty="0"/>
          </a:p>
        </p:txBody>
      </p:sp>
      <p:sp>
        <p:nvSpPr>
          <p:cNvPr id="7" name="Text 5"/>
          <p:cNvSpPr txBox="1"/>
          <p:nvPr/>
        </p:nvSpPr>
        <p:spPr>
          <a:xfrm>
            <a:off x="1554480" y="1709928"/>
            <a:ext cx="2651760" cy="27432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One per table (entity integrity)</a:t>
            </a:r>
            <a:endParaRPr lang="en-US" sz="1200" dirty="0"/>
          </a:p>
        </p:txBody>
      </p:sp>
      <p:sp>
        <p:nvSpPr>
          <p:cNvPr id="8" name="Shape 6"/>
          <p:cNvSpPr/>
          <p:nvPr/>
        </p:nvSpPr>
        <p:spPr>
          <a:xfrm>
            <a:off x="457200" y="2176272"/>
            <a:ext cx="3840480" cy="731520"/>
          </a:xfrm>
          <a:prstGeom prst="roundRect">
            <a:avLst>
              <a:gd name="adj" fmla="val 10000"/>
            </a:avLst>
          </a:prstGeom>
          <a:solidFill>
            <a:srgbClr val="EEF6F0"/>
          </a:solidFill>
          <a:ln w="12700">
            <a:solidFill>
              <a:srgbClr val="EEF6F0"/>
            </a:solidFill>
            <a:prstDash val="solid"/>
          </a:ln>
        </p:spPr>
      </p:sp>
      <p:sp>
        <p:nvSpPr>
          <p:cNvPr id="9" name="Text 7"/>
          <p:cNvSpPr txBox="1"/>
          <p:nvPr/>
        </p:nvSpPr>
        <p:spPr>
          <a:xfrm>
            <a:off x="640080" y="2176272"/>
            <a:ext cx="822960" cy="731520"/>
          </a:xfrm>
          <a:prstGeom prst="rect">
            <a:avLst/>
          </a:prstGeom>
          <a:noFill/>
          <a:ln/>
        </p:spPr>
        <p:txBody>
          <a:bodyPr wrap="square" lIns="0" tIns="0" rIns="0" bIns="0" rtlCol="0" anchor="ctr"/>
          <a:lstStyle/>
          <a:p>
            <a:pPr indent="0" marL="0">
              <a:buNone/>
            </a:pPr>
            <a:r>
              <a:rPr lang="en-US" sz="3000" b="1" dirty="0">
                <a:solidFill>
                  <a:srgbClr val="1F6B4A"/>
                </a:solidFill>
                <a:latin typeface="Cambria" pitchFamily="34" charset="0"/>
                <a:ea typeface="Cambria" pitchFamily="34" charset="-122"/>
                <a:cs typeface="Cambria" pitchFamily="34" charset="-120"/>
              </a:rPr>
              <a:t>7</a:t>
            </a:r>
            <a:endParaRPr lang="en-US" sz="3000" dirty="0"/>
          </a:p>
        </p:txBody>
      </p:sp>
      <p:sp>
        <p:nvSpPr>
          <p:cNvPr id="10" name="Text 8"/>
          <p:cNvSpPr txBox="1"/>
          <p:nvPr/>
        </p:nvSpPr>
        <p:spPr>
          <a:xfrm>
            <a:off x="1554480" y="2286000"/>
            <a:ext cx="265176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FOREIGN KEY</a:t>
            </a:r>
            <a:endParaRPr lang="en-US" sz="1400" dirty="0"/>
          </a:p>
        </p:txBody>
      </p:sp>
      <p:sp>
        <p:nvSpPr>
          <p:cNvPr id="11" name="Text 9"/>
          <p:cNvSpPr txBox="1"/>
          <p:nvPr/>
        </p:nvSpPr>
        <p:spPr>
          <a:xfrm>
            <a:off x="1554480" y="2560320"/>
            <a:ext cx="2651760" cy="27432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TRIP ×3, TICKET ×1, ALLOCATION ×3</a:t>
            </a:r>
            <a:endParaRPr lang="en-US" sz="1200" dirty="0"/>
          </a:p>
        </p:txBody>
      </p:sp>
      <p:sp>
        <p:nvSpPr>
          <p:cNvPr id="12" name="Shape 10"/>
          <p:cNvSpPr/>
          <p:nvPr/>
        </p:nvSpPr>
        <p:spPr>
          <a:xfrm>
            <a:off x="457200" y="3026664"/>
            <a:ext cx="3840480" cy="731520"/>
          </a:xfrm>
          <a:prstGeom prst="roundRect">
            <a:avLst>
              <a:gd name="adj" fmla="val 10000"/>
            </a:avLst>
          </a:prstGeom>
          <a:solidFill>
            <a:srgbClr val="EEF6F0"/>
          </a:solidFill>
          <a:ln w="12700">
            <a:solidFill>
              <a:srgbClr val="EEF6F0"/>
            </a:solidFill>
            <a:prstDash val="solid"/>
          </a:ln>
        </p:spPr>
      </p:sp>
      <p:sp>
        <p:nvSpPr>
          <p:cNvPr id="13" name="Text 11"/>
          <p:cNvSpPr txBox="1"/>
          <p:nvPr/>
        </p:nvSpPr>
        <p:spPr>
          <a:xfrm>
            <a:off x="640080" y="3026664"/>
            <a:ext cx="822960" cy="731520"/>
          </a:xfrm>
          <a:prstGeom prst="rect">
            <a:avLst/>
          </a:prstGeom>
          <a:noFill/>
          <a:ln/>
        </p:spPr>
        <p:txBody>
          <a:bodyPr wrap="square" lIns="0" tIns="0" rIns="0" bIns="0" rtlCol="0" anchor="ctr"/>
          <a:lstStyle/>
          <a:p>
            <a:pPr indent="0" marL="0">
              <a:buNone/>
            </a:pPr>
            <a:r>
              <a:rPr lang="en-US" sz="3000" b="1" dirty="0">
                <a:solidFill>
                  <a:srgbClr val="1F6B4A"/>
                </a:solidFill>
                <a:latin typeface="Cambria" pitchFamily="34" charset="0"/>
                <a:ea typeface="Cambria" pitchFamily="34" charset="-122"/>
                <a:cs typeface="Cambria" pitchFamily="34" charset="-120"/>
              </a:rPr>
              <a:t>6</a:t>
            </a:r>
            <a:endParaRPr lang="en-US" sz="3000" dirty="0"/>
          </a:p>
        </p:txBody>
      </p:sp>
      <p:sp>
        <p:nvSpPr>
          <p:cNvPr id="14" name="Text 12"/>
          <p:cNvSpPr txBox="1"/>
          <p:nvPr/>
        </p:nvSpPr>
        <p:spPr>
          <a:xfrm>
            <a:off x="1554480" y="3136392"/>
            <a:ext cx="265176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UNIQUE</a:t>
            </a:r>
            <a:endParaRPr lang="en-US" sz="1400" dirty="0"/>
          </a:p>
        </p:txBody>
      </p:sp>
      <p:sp>
        <p:nvSpPr>
          <p:cNvPr id="15" name="Text 13"/>
          <p:cNvSpPr txBox="1"/>
          <p:nvPr/>
        </p:nvSpPr>
        <p:spPr>
          <a:xfrm>
            <a:off x="1554480" y="3410712"/>
            <a:ext cx="2651760" cy="27432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Incl. composite trip key</a:t>
            </a:r>
            <a:endParaRPr lang="en-US" sz="1200" dirty="0"/>
          </a:p>
        </p:txBody>
      </p:sp>
      <p:sp>
        <p:nvSpPr>
          <p:cNvPr id="16" name="Shape 14"/>
          <p:cNvSpPr/>
          <p:nvPr/>
        </p:nvSpPr>
        <p:spPr>
          <a:xfrm>
            <a:off x="457200" y="3877056"/>
            <a:ext cx="3840480" cy="731520"/>
          </a:xfrm>
          <a:prstGeom prst="roundRect">
            <a:avLst>
              <a:gd name="adj" fmla="val 10000"/>
            </a:avLst>
          </a:prstGeom>
          <a:solidFill>
            <a:srgbClr val="EEF6F0"/>
          </a:solidFill>
          <a:ln w="12700">
            <a:solidFill>
              <a:srgbClr val="EEF6F0"/>
            </a:solidFill>
            <a:prstDash val="solid"/>
          </a:ln>
        </p:spPr>
      </p:sp>
      <p:sp>
        <p:nvSpPr>
          <p:cNvPr id="17" name="Text 15"/>
          <p:cNvSpPr txBox="1"/>
          <p:nvPr/>
        </p:nvSpPr>
        <p:spPr>
          <a:xfrm>
            <a:off x="640080" y="3877056"/>
            <a:ext cx="822960" cy="731520"/>
          </a:xfrm>
          <a:prstGeom prst="rect">
            <a:avLst/>
          </a:prstGeom>
          <a:noFill/>
          <a:ln/>
        </p:spPr>
        <p:txBody>
          <a:bodyPr wrap="square" lIns="0" tIns="0" rIns="0" bIns="0" rtlCol="0" anchor="ctr"/>
          <a:lstStyle/>
          <a:p>
            <a:pPr indent="0" marL="0">
              <a:buNone/>
            </a:pPr>
            <a:r>
              <a:rPr lang="en-US" sz="3000" b="1" dirty="0">
                <a:solidFill>
                  <a:srgbClr val="1F6B4A"/>
                </a:solidFill>
                <a:latin typeface="Cambria" pitchFamily="34" charset="0"/>
                <a:ea typeface="Cambria" pitchFamily="34" charset="-122"/>
                <a:cs typeface="Cambria" pitchFamily="34" charset="-120"/>
              </a:rPr>
              <a:t>13</a:t>
            </a:r>
            <a:endParaRPr lang="en-US" sz="3000" dirty="0"/>
          </a:p>
        </p:txBody>
      </p:sp>
      <p:sp>
        <p:nvSpPr>
          <p:cNvPr id="18" name="Text 16"/>
          <p:cNvSpPr txBox="1"/>
          <p:nvPr/>
        </p:nvSpPr>
        <p:spPr>
          <a:xfrm>
            <a:off x="1554480" y="3986784"/>
            <a:ext cx="265176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CHECK</a:t>
            </a:r>
            <a:endParaRPr lang="en-US" sz="1400" dirty="0"/>
          </a:p>
        </p:txBody>
      </p:sp>
      <p:sp>
        <p:nvSpPr>
          <p:cNvPr id="19" name="Text 17"/>
          <p:cNvSpPr txBox="1"/>
          <p:nvPr/>
        </p:nvSpPr>
        <p:spPr>
          <a:xfrm>
            <a:off x="1554480" y="4261104"/>
            <a:ext cx="2651760" cy="274320"/>
          </a:xfrm>
          <a:prstGeom prst="rect">
            <a:avLst/>
          </a:prstGeom>
          <a:noFill/>
          <a:ln/>
        </p:spPr>
        <p:txBody>
          <a:bodyPr wrap="square" lIns="0" tIns="0" rIns="0" bIns="0" rtlCol="0" anchor="t"/>
          <a:lstStyle/>
          <a:p>
            <a:pPr indent="0" marL="0">
              <a:buNone/>
            </a:pPr>
            <a:r>
              <a:rPr lang="en-US" sz="1200" dirty="0">
                <a:solidFill>
                  <a:srgbClr val="5B6B65"/>
                </a:solidFill>
                <a:latin typeface="Calibri" pitchFamily="34" charset="0"/>
                <a:ea typeface="Calibri" pitchFamily="34" charset="-122"/>
                <a:cs typeface="Calibri" pitchFamily="34" charset="-120"/>
              </a:rPr>
              <a:t>Weights, capacities, status values</a:t>
            </a:r>
            <a:endParaRPr lang="en-US" sz="1200" dirty="0"/>
          </a:p>
        </p:txBody>
      </p:sp>
      <p:sp>
        <p:nvSpPr>
          <p:cNvPr id="20" name="Shape 18"/>
          <p:cNvSpPr/>
          <p:nvPr/>
        </p:nvSpPr>
        <p:spPr>
          <a:xfrm>
            <a:off x="4572000" y="1325880"/>
            <a:ext cx="4114800" cy="3383280"/>
          </a:xfrm>
          <a:prstGeom prst="roundRect">
            <a:avLst>
              <a:gd name="adj" fmla="val 1622"/>
            </a:avLst>
          </a:prstGeom>
          <a:solidFill>
            <a:srgbClr val="14342B"/>
          </a:solidFill>
          <a:ln w="12700">
            <a:solidFill>
              <a:srgbClr val="14342B"/>
            </a:solidFill>
            <a:prstDash val="solid"/>
          </a:ln>
        </p:spPr>
      </p:sp>
      <p:sp>
        <p:nvSpPr>
          <p:cNvPr id="21" name="Text 19"/>
          <p:cNvSpPr txBox="1"/>
          <p:nvPr/>
        </p:nvSpPr>
        <p:spPr>
          <a:xfrm>
            <a:off x="4709160" y="1435608"/>
            <a:ext cx="3840480" cy="3163824"/>
          </a:xfrm>
          <a:prstGeom prst="rect">
            <a:avLst/>
          </a:prstGeom>
          <a:noFill/>
          <a:ln/>
        </p:spPr>
        <p:txBody>
          <a:bodyPr wrap="square" lIns="0" tIns="0" rIns="0" bIns="0" rtlCol="0" anchor="t"/>
          <a:lstStyle/>
          <a:p>
            <a:pPr indent="0" marL="0">
              <a:buNone/>
            </a:pPr>
            <a:r>
              <a:rPr lang="en-US" sz="1100" dirty="0">
                <a:solidFill>
                  <a:srgbClr val="E6F4EA"/>
                </a:solidFill>
                <a:latin typeface="Courier New" pitchFamily="34" charset="0"/>
                <a:ea typeface="Courier New" pitchFamily="34" charset="-122"/>
                <a:cs typeface="Courier New" pitchFamily="34" charset="-120"/>
              </a:rPr>
              <a:t>-- weighbridge_ticket</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CONSTRAINT valid_net_weight CHECK</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(net_weight_kg =</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gross_weight_kg - tare_weight_kg)</a:t>
            </a:r>
            <a:endParaRPr lang="en-US" sz="1100" dirty="0"/>
          </a:p>
          <a:p>
            <a:pPr indent="0" marL="0">
              <a:buNone/>
            </a:pP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trip: no duplicate trip records</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CONSTRAINT trip_vehicle_driver_zone_date</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UNIQUE (vehicle_id, driver_id,</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zone_id, trip_date)</a:t>
            </a:r>
            <a:endParaRPr lang="en-US" sz="1100" dirty="0"/>
          </a:p>
          <a:p>
            <a:pPr indent="0" marL="0">
              <a:buNone/>
            </a:pP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trip -&gt; vehicle</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FOREIGN KEY (vehicle_id)</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REFERENCES vehicle(vehicle_id)</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ON DELETE RESTRICT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6F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13 Performance Indexes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Speeding up the joins and filters our queries use most</a:t>
            </a:r>
            <a:endParaRPr lang="en-US" sz="1300" dirty="0"/>
          </a:p>
        </p:txBody>
      </p:sp>
      <p:sp>
        <p:nvSpPr>
          <p:cNvPr id="4" name="Shape 2"/>
          <p:cNvSpPr/>
          <p:nvPr/>
        </p:nvSpPr>
        <p:spPr>
          <a:xfrm>
            <a:off x="457200" y="1371600"/>
            <a:ext cx="822960" cy="822960"/>
          </a:xfrm>
          <a:prstGeom prst="ellipse">
            <a:avLst/>
          </a:prstGeom>
          <a:solidFill>
            <a:srgbClr val="1F6B4A"/>
          </a:solidFill>
          <a:ln w="12700">
            <a:solidFill>
              <a:srgbClr val="1F6B4A"/>
            </a:solidFill>
            <a:prstDash val="solid"/>
          </a:ln>
        </p:spPr>
      </p:sp>
      <p:pic>
        <p:nvPicPr>
          <p:cNvPr id="5" name="Image 0" descr="preencoded.png">    </p:cNvPr>
          <p:cNvPicPr>
            <a:picLocks noChangeAspect="1"/>
          </p:cNvPicPr>
          <p:nvPr/>
        </p:nvPicPr>
        <p:blipFill>
          <a:blip r:embed="rId1"/>
          <a:stretch>
            <a:fillRect/>
          </a:stretch>
        </p:blipFill>
        <p:spPr>
          <a:xfrm>
            <a:off x="662940" y="1577340"/>
            <a:ext cx="411480" cy="411480"/>
          </a:xfrm>
          <a:prstGeom prst="rect">
            <a:avLst/>
          </a:prstGeom>
        </p:spPr>
      </p:pic>
      <p:sp>
        <p:nvSpPr>
          <p:cNvPr id="6" name="Text 3"/>
          <p:cNvSpPr txBox="1"/>
          <p:nvPr/>
        </p:nvSpPr>
        <p:spPr>
          <a:xfrm>
            <a:off x="1463040" y="1371600"/>
            <a:ext cx="2743200" cy="365760"/>
          </a:xfrm>
          <a:prstGeom prst="rect">
            <a:avLst/>
          </a:prstGeom>
          <a:noFill/>
          <a:ln/>
        </p:spPr>
        <p:txBody>
          <a:bodyPr wrap="square" lIns="0" tIns="0" rIns="0" bIns="0" rtlCol="0" anchor="t"/>
          <a:lstStyle/>
          <a:p>
            <a:pPr indent="0" marL="0">
              <a:buNone/>
            </a:pPr>
            <a:r>
              <a:rPr lang="en-US" sz="2000" b="1" dirty="0">
                <a:solidFill>
                  <a:srgbClr val="14342B"/>
                </a:solidFill>
                <a:latin typeface="Cambria" pitchFamily="34" charset="0"/>
                <a:ea typeface="Cambria" pitchFamily="34" charset="-122"/>
                <a:cs typeface="Cambria" pitchFamily="34" charset="-120"/>
              </a:rPr>
              <a:t>Why index?</a:t>
            </a:r>
            <a:endParaRPr lang="en-US" sz="2000" dirty="0"/>
          </a:p>
        </p:txBody>
      </p:sp>
      <p:sp>
        <p:nvSpPr>
          <p:cNvPr id="7" name="Text 4"/>
          <p:cNvSpPr txBox="1"/>
          <p:nvPr/>
        </p:nvSpPr>
        <p:spPr>
          <a:xfrm>
            <a:off x="1463040" y="1783080"/>
            <a:ext cx="2834640" cy="1097280"/>
          </a:xfrm>
          <a:prstGeom prst="rect">
            <a:avLst/>
          </a:prstGeom>
          <a:noFill/>
          <a:ln/>
        </p:spPr>
        <p:txBody>
          <a:bodyPr wrap="square" lIns="0" tIns="0" rIns="0" bIns="0" rtlCol="0" anchor="t"/>
          <a:lstStyle/>
          <a:p>
            <a:pPr indent="0" marL="0">
              <a:buNone/>
            </a:pPr>
            <a:r>
              <a:rPr lang="en-US" sz="1300" dirty="0">
                <a:solidFill>
                  <a:srgbClr val="5B6B65"/>
                </a:solidFill>
                <a:latin typeface="Calibri" pitchFamily="34" charset="0"/>
                <a:ea typeface="Calibri" pitchFamily="34" charset="-122"/>
                <a:cs typeface="Calibri" pitchFamily="34" charset="-120"/>
              </a:rPr>
              <a:t>Without an index PostgreSQL scans every row. A B-tree index lets it jump straight to matching rows — like a book index.</a:t>
            </a:r>
            <a:endParaRPr lang="en-US" sz="1300" dirty="0"/>
          </a:p>
        </p:txBody>
      </p:sp>
      <p:sp>
        <p:nvSpPr>
          <p:cNvPr id="8" name="Text 5"/>
          <p:cNvSpPr txBox="1"/>
          <p:nvPr/>
        </p:nvSpPr>
        <p:spPr>
          <a:xfrm>
            <a:off x="548640" y="3017520"/>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A26"/>
                </a:solidFill>
                <a:latin typeface="Calibri" pitchFamily="34" charset="0"/>
                <a:ea typeface="Calibri" pitchFamily="34" charset="-122"/>
                <a:cs typeface="Calibri" pitchFamily="34" charset="-120"/>
              </a:rPr>
              <a:t>Foreign keys: trip, ticket, allocation joins</a:t>
            </a:r>
            <a:endParaRPr lang="en-US" sz="1300" dirty="0"/>
          </a:p>
          <a:p>
            <a:pPr marL="342900" indent="-342900">
              <a:spcAft>
                <a:spcPts val="600"/>
              </a:spcAft>
              <a:buSzPct val="100000"/>
              <a:buChar char="•"/>
            </a:pPr>
            <a:r>
              <a:rPr lang="en-US" sz="1300" dirty="0">
                <a:solidFill>
                  <a:srgbClr val="1E2A26"/>
                </a:solidFill>
                <a:latin typeface="Calibri" pitchFamily="34" charset="0"/>
                <a:ea typeface="Calibri" pitchFamily="34" charset="-122"/>
                <a:cs typeface="Calibri" pitchFamily="34" charset="-120"/>
              </a:rPr>
              <a:t>Dates: trip_date, weighbridge_date, allocation_date</a:t>
            </a:r>
            <a:endParaRPr lang="en-US" sz="1300" dirty="0"/>
          </a:p>
          <a:p>
            <a:pPr marL="342900" indent="-342900">
              <a:spcAft>
                <a:spcPts val="600"/>
              </a:spcAft>
              <a:buSzPct val="100000"/>
              <a:buChar char="•"/>
            </a:pPr>
            <a:r>
              <a:rPr lang="en-US" sz="1300" dirty="0">
                <a:solidFill>
                  <a:srgbClr val="1E2A26"/>
                </a:solidFill>
                <a:latin typeface="Calibri" pitchFamily="34" charset="0"/>
                <a:ea typeface="Calibri" pitchFamily="34" charset="-122"/>
                <a:cs typeface="Calibri" pitchFamily="34" charset="-120"/>
              </a:rPr>
              <a:t>net_weight_kg for weight-range queries</a:t>
            </a:r>
            <a:endParaRPr lang="en-US" sz="1300" dirty="0"/>
          </a:p>
          <a:p>
            <a:pPr marL="342900" indent="-342900">
              <a:spcAft>
                <a:spcPts val="600"/>
              </a:spcAft>
              <a:buSzPct val="100000"/>
              <a:buChar char="•"/>
            </a:pPr>
            <a:r>
              <a:rPr lang="en-US" sz="1300" dirty="0">
                <a:solidFill>
                  <a:srgbClr val="1E2A26"/>
                </a:solidFill>
                <a:latin typeface="Calibri" pitchFamily="34" charset="0"/>
                <a:ea typeface="Calibri" pitchFamily="34" charset="-122"/>
                <a:cs typeface="Calibri" pitchFamily="34" charset="-120"/>
              </a:rPr>
              <a:t>Trade-off: faster reads, slightly slower inserts</a:t>
            </a:r>
            <a:endParaRPr lang="en-US" sz="1300" dirty="0"/>
          </a:p>
        </p:txBody>
      </p:sp>
      <p:sp>
        <p:nvSpPr>
          <p:cNvPr id="9" name="Shape 6"/>
          <p:cNvSpPr/>
          <p:nvPr/>
        </p:nvSpPr>
        <p:spPr>
          <a:xfrm>
            <a:off x="4572000" y="1325880"/>
            <a:ext cx="4114800" cy="3383280"/>
          </a:xfrm>
          <a:prstGeom prst="roundRect">
            <a:avLst>
              <a:gd name="adj" fmla="val 1622"/>
            </a:avLst>
          </a:prstGeom>
          <a:solidFill>
            <a:srgbClr val="14342B"/>
          </a:solidFill>
          <a:ln w="12700">
            <a:solidFill>
              <a:srgbClr val="14342B"/>
            </a:solidFill>
            <a:prstDash val="solid"/>
          </a:ln>
        </p:spPr>
      </p:sp>
      <p:sp>
        <p:nvSpPr>
          <p:cNvPr id="10" name="Text 7"/>
          <p:cNvSpPr txBox="1"/>
          <p:nvPr/>
        </p:nvSpPr>
        <p:spPr>
          <a:xfrm>
            <a:off x="4709160" y="1435608"/>
            <a:ext cx="3840480" cy="3163824"/>
          </a:xfrm>
          <a:prstGeom prst="rect">
            <a:avLst/>
          </a:prstGeom>
          <a:noFill/>
          <a:ln/>
        </p:spPr>
        <p:txBody>
          <a:bodyPr wrap="square" lIns="0" tIns="0" rIns="0" bIns="0" rtlCol="0" anchor="t"/>
          <a:lstStyle/>
          <a:p>
            <a:pPr indent="0" marL="0">
              <a:buNone/>
            </a:pPr>
            <a:r>
              <a:rPr lang="en-US" sz="1100" dirty="0">
                <a:solidFill>
                  <a:srgbClr val="E6F4EA"/>
                </a:solidFill>
                <a:latin typeface="Courier New" pitchFamily="34" charset="0"/>
                <a:ea typeface="Courier New" pitchFamily="34" charset="-122"/>
                <a:cs typeface="Courier New" pitchFamily="34" charset="-120"/>
              </a:rPr>
              <a:t>-- join columns on TRIP</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CREATE INDEX idx_trip_vehicle</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ON trip(vehicle_id);</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CREATE INDEX idx_trip_zone</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ON trip(zone_id);</a:t>
            </a:r>
            <a:endParaRPr lang="en-US" sz="1100" dirty="0"/>
          </a:p>
          <a:p>
            <a:pPr indent="0" marL="0">
              <a:buNone/>
            </a:pP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weight range filter (Query 2)</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CREATE INDEX idx_ticket_weight</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ON weighbridge_ticket(net_weight_kg);</a:t>
            </a:r>
            <a:endParaRPr lang="en-US" sz="1100" dirty="0"/>
          </a:p>
          <a:p>
            <a:pPr indent="0" marL="0">
              <a:buNone/>
            </a:pP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date range reports</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CREATE INDEX idx_trip_date</a:t>
            </a:r>
            <a:endParaRPr lang="en-US" sz="1100" dirty="0"/>
          </a:p>
          <a:p>
            <a:pPr indent="0" marL="0">
              <a:buNone/>
            </a:pPr>
            <a:r>
              <a:rPr lang="en-US" sz="1100" dirty="0">
                <a:solidFill>
                  <a:srgbClr val="E6F4EA"/>
                </a:solidFill>
                <a:latin typeface="Courier New" pitchFamily="34" charset="0"/>
                <a:ea typeface="Courier New" pitchFamily="34" charset="-122"/>
                <a:cs typeface="Courier New" pitchFamily="34" charset="-120"/>
              </a:rPr>
              <a:t>  ON trip(trip_date);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20 Business Queries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From simple lookups to analytical reports</a:t>
            </a:r>
            <a:endParaRPr lang="en-US" sz="1300" dirty="0"/>
          </a:p>
        </p:txBody>
      </p:sp>
      <p:graphicFrame>
        <p:nvGraphicFramePr>
          <p:cNvPr id="4" name="Chart 0" descr=""/>
          <p:cNvGraphicFramePr/>
          <p:nvPr/>
        </p:nvGraphicFramePr>
        <p:xfrm>
          <a:off x="365760" y="128016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937760" y="1371600"/>
            <a:ext cx="548640" cy="548640"/>
          </a:xfrm>
          <a:prstGeom prst="ellipse">
            <a:avLst/>
          </a:prstGeom>
          <a:solidFill>
            <a:srgbClr val="1F6B4A"/>
          </a:solidFill>
          <a:ln w="12700">
            <a:solidFill>
              <a:srgbClr val="1F6B4A"/>
            </a:solidFill>
            <a:prstDash val="solid"/>
          </a:ln>
        </p:spPr>
      </p:sp>
      <p:pic>
        <p:nvPicPr>
          <p:cNvPr id="6" name="Image 0" descr="preencoded.png">    </p:cNvPr>
          <p:cNvPicPr>
            <a:picLocks noChangeAspect="1"/>
          </p:cNvPicPr>
          <p:nvPr/>
        </p:nvPicPr>
        <p:blipFill>
          <a:blip r:embed="rId2"/>
          <a:stretch>
            <a:fillRect/>
          </a:stretch>
        </p:blipFill>
        <p:spPr>
          <a:xfrm>
            <a:off x="5074920" y="1508760"/>
            <a:ext cx="274320" cy="274320"/>
          </a:xfrm>
          <a:prstGeom prst="rect">
            <a:avLst/>
          </a:prstGeom>
        </p:spPr>
      </p:pic>
      <p:sp>
        <p:nvSpPr>
          <p:cNvPr id="7" name="Text 3"/>
          <p:cNvSpPr txBox="1"/>
          <p:nvPr/>
        </p:nvSpPr>
        <p:spPr>
          <a:xfrm>
            <a:off x="5669280" y="1353312"/>
            <a:ext cx="301752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Multi-table JOINs</a:t>
            </a:r>
            <a:endParaRPr lang="en-US" sz="1500" dirty="0"/>
          </a:p>
        </p:txBody>
      </p:sp>
      <p:sp>
        <p:nvSpPr>
          <p:cNvPr id="8" name="Text 4"/>
          <p:cNvSpPr txBox="1"/>
          <p:nvPr/>
        </p:nvSpPr>
        <p:spPr>
          <a:xfrm>
            <a:off x="5669280" y="1627632"/>
            <a:ext cx="30175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Q1, Q11, Q13 join 5 tables · Q12 LEFT JOIN for idle vehicles</a:t>
            </a:r>
            <a:endParaRPr lang="en-US" sz="1100" dirty="0"/>
          </a:p>
        </p:txBody>
      </p:sp>
      <p:sp>
        <p:nvSpPr>
          <p:cNvPr id="9" name="Shape 5"/>
          <p:cNvSpPr/>
          <p:nvPr/>
        </p:nvSpPr>
        <p:spPr>
          <a:xfrm>
            <a:off x="4937760" y="2221992"/>
            <a:ext cx="548640" cy="548640"/>
          </a:xfrm>
          <a:prstGeom prst="ellipse">
            <a:avLst/>
          </a:prstGeom>
          <a:solidFill>
            <a:srgbClr val="1F6B4A"/>
          </a:solidFill>
          <a:ln w="12700">
            <a:solidFill>
              <a:srgbClr val="1F6B4A"/>
            </a:solidFill>
            <a:prstDash val="solid"/>
          </a:ln>
        </p:spPr>
      </p:sp>
      <p:pic>
        <p:nvPicPr>
          <p:cNvPr id="10" name="Image 1" descr="preencoded.png">    </p:cNvPr>
          <p:cNvPicPr>
            <a:picLocks noChangeAspect="1"/>
          </p:cNvPicPr>
          <p:nvPr/>
        </p:nvPicPr>
        <p:blipFill>
          <a:blip r:embed="rId3"/>
          <a:stretch>
            <a:fillRect/>
          </a:stretch>
        </p:blipFill>
        <p:spPr>
          <a:xfrm>
            <a:off x="5074920" y="2359152"/>
            <a:ext cx="274320" cy="274320"/>
          </a:xfrm>
          <a:prstGeom prst="rect">
            <a:avLst/>
          </a:prstGeom>
        </p:spPr>
      </p:pic>
      <p:sp>
        <p:nvSpPr>
          <p:cNvPr id="11" name="Text 6"/>
          <p:cNvSpPr txBox="1"/>
          <p:nvPr/>
        </p:nvSpPr>
        <p:spPr>
          <a:xfrm>
            <a:off x="5669280" y="2203704"/>
            <a:ext cx="301752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Aggregation</a:t>
            </a:r>
            <a:endParaRPr lang="en-US" sz="1500" dirty="0"/>
          </a:p>
        </p:txBody>
      </p:sp>
      <p:sp>
        <p:nvSpPr>
          <p:cNvPr id="12" name="Text 7"/>
          <p:cNvSpPr txBox="1"/>
          <p:nvPr/>
        </p:nvSpPr>
        <p:spPr>
          <a:xfrm>
            <a:off x="5669280" y="2478024"/>
            <a:ext cx="30175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Q6–Q10: COUNT, SUM, AVG, MIN/MAX, HAVING</a:t>
            </a:r>
            <a:endParaRPr lang="en-US" sz="1100" dirty="0"/>
          </a:p>
        </p:txBody>
      </p:sp>
      <p:sp>
        <p:nvSpPr>
          <p:cNvPr id="13" name="Shape 8"/>
          <p:cNvSpPr/>
          <p:nvPr/>
        </p:nvSpPr>
        <p:spPr>
          <a:xfrm>
            <a:off x="4937760" y="3072384"/>
            <a:ext cx="548640" cy="548640"/>
          </a:xfrm>
          <a:prstGeom prst="ellipse">
            <a:avLst/>
          </a:prstGeom>
          <a:solidFill>
            <a:srgbClr val="1F6B4A"/>
          </a:solidFill>
          <a:ln w="12700">
            <a:solidFill>
              <a:srgbClr val="1F6B4A"/>
            </a:solidFill>
            <a:prstDash val="solid"/>
          </a:ln>
        </p:spPr>
      </p:sp>
      <p:pic>
        <p:nvPicPr>
          <p:cNvPr id="14" name="Image 2" descr="preencoded.png">    </p:cNvPr>
          <p:cNvPicPr>
            <a:picLocks noChangeAspect="1"/>
          </p:cNvPicPr>
          <p:nvPr/>
        </p:nvPicPr>
        <p:blipFill>
          <a:blip r:embed="rId4"/>
          <a:stretch>
            <a:fillRect/>
          </a:stretch>
        </p:blipFill>
        <p:spPr>
          <a:xfrm>
            <a:off x="5074920" y="3209544"/>
            <a:ext cx="274320" cy="274320"/>
          </a:xfrm>
          <a:prstGeom prst="rect">
            <a:avLst/>
          </a:prstGeom>
        </p:spPr>
      </p:pic>
      <p:sp>
        <p:nvSpPr>
          <p:cNvPr id="15" name="Text 9"/>
          <p:cNvSpPr txBox="1"/>
          <p:nvPr/>
        </p:nvSpPr>
        <p:spPr>
          <a:xfrm>
            <a:off x="5669280" y="3054096"/>
            <a:ext cx="301752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Window functions &amp; CTEs</a:t>
            </a:r>
            <a:endParaRPr lang="en-US" sz="1500" dirty="0"/>
          </a:p>
        </p:txBody>
      </p:sp>
      <p:sp>
        <p:nvSpPr>
          <p:cNvPr id="16" name="Text 10"/>
          <p:cNvSpPr txBox="1"/>
          <p:nvPr/>
        </p:nvSpPr>
        <p:spPr>
          <a:xfrm>
            <a:off x="5669280" y="3328416"/>
            <a:ext cx="30175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Q5 RANK() · Q11 PARTITION BY · Q16–17 WITH</a:t>
            </a:r>
            <a:endParaRPr lang="en-US" sz="1100" dirty="0"/>
          </a:p>
        </p:txBody>
      </p:sp>
      <p:sp>
        <p:nvSpPr>
          <p:cNvPr id="17" name="Shape 11"/>
          <p:cNvSpPr/>
          <p:nvPr/>
        </p:nvSpPr>
        <p:spPr>
          <a:xfrm>
            <a:off x="4937760" y="3922776"/>
            <a:ext cx="548640" cy="548640"/>
          </a:xfrm>
          <a:prstGeom prst="ellipse">
            <a:avLst/>
          </a:prstGeom>
          <a:solidFill>
            <a:srgbClr val="1F6B4A"/>
          </a:solidFill>
          <a:ln w="12700">
            <a:solidFill>
              <a:srgbClr val="1F6B4A"/>
            </a:solidFill>
            <a:prstDash val="solid"/>
          </a:ln>
        </p:spPr>
      </p:sp>
      <p:pic>
        <p:nvPicPr>
          <p:cNvPr id="18" name="Image 3" descr="preencoded.png">    </p:cNvPr>
          <p:cNvPicPr>
            <a:picLocks noChangeAspect="1"/>
          </p:cNvPicPr>
          <p:nvPr/>
        </p:nvPicPr>
        <p:blipFill>
          <a:blip r:embed="rId5"/>
          <a:stretch>
            <a:fillRect/>
          </a:stretch>
        </p:blipFill>
        <p:spPr>
          <a:xfrm>
            <a:off x="5074920" y="4059936"/>
            <a:ext cx="274320" cy="274320"/>
          </a:xfrm>
          <a:prstGeom prst="rect">
            <a:avLst/>
          </a:prstGeom>
        </p:spPr>
      </p:pic>
      <p:sp>
        <p:nvSpPr>
          <p:cNvPr id="19" name="Text 12"/>
          <p:cNvSpPr txBox="1"/>
          <p:nvPr/>
        </p:nvSpPr>
        <p:spPr>
          <a:xfrm>
            <a:off x="5669280" y="3904488"/>
            <a:ext cx="3017520" cy="274320"/>
          </a:xfrm>
          <a:prstGeom prst="rect">
            <a:avLst/>
          </a:prstGeom>
          <a:noFill/>
          <a:ln/>
        </p:spPr>
        <p:txBody>
          <a:bodyPr wrap="square" lIns="0" tIns="0" rIns="0" bIns="0" rtlCol="0" anchor="t"/>
          <a:lstStyle/>
          <a:p>
            <a:pPr indent="0" marL="0">
              <a:buNone/>
            </a:pPr>
            <a:r>
              <a:rPr lang="en-US" sz="1500" b="1" dirty="0">
                <a:solidFill>
                  <a:srgbClr val="14342B"/>
                </a:solidFill>
                <a:latin typeface="Calibri" pitchFamily="34" charset="0"/>
                <a:ea typeface="Calibri" pitchFamily="34" charset="-122"/>
                <a:cs typeface="Calibri" pitchFamily="34" charset="-120"/>
              </a:rPr>
              <a:t>Subqueries &amp; set ops</a:t>
            </a:r>
            <a:endParaRPr lang="en-US" sz="1500" dirty="0"/>
          </a:p>
        </p:txBody>
      </p:sp>
      <p:sp>
        <p:nvSpPr>
          <p:cNvPr id="20" name="Text 13"/>
          <p:cNvSpPr txBox="1"/>
          <p:nvPr/>
        </p:nvSpPr>
        <p:spPr>
          <a:xfrm>
            <a:off x="5669280" y="4178808"/>
            <a:ext cx="30175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Q14 self-join · Q18 IN · Q19 NOT EXISTS · Q20 ALL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6F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What the Seed Data Shows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Results from running our queries on the sample data</a:t>
            </a:r>
            <a:endParaRPr lang="en-US" sz="1300" dirty="0"/>
          </a:p>
        </p:txBody>
      </p:sp>
      <p:sp>
        <p:nvSpPr>
          <p:cNvPr id="4" name="Shape 2"/>
          <p:cNvSpPr/>
          <p:nvPr/>
        </p:nvSpPr>
        <p:spPr>
          <a:xfrm>
            <a:off x="457200" y="1280160"/>
            <a:ext cx="4846320" cy="3429000"/>
          </a:xfrm>
          <a:prstGeom prst="roundRect">
            <a:avLst>
              <a:gd name="adj" fmla="val 2133"/>
            </a:avLst>
          </a:prstGeom>
          <a:solidFill>
            <a:srgbClr val="FFFFFF"/>
          </a:solidFill>
          <a:ln w="12700">
            <a:solidFill>
              <a:srgbClr val="FFFFFF"/>
            </a:solidFill>
            <a:prstDash val="solid"/>
          </a:ln>
        </p:spPr>
      </p:sp>
      <p:graphicFrame>
        <p:nvGraphicFramePr>
          <p:cNvPr id="5" name="Chart 0" descr=""/>
          <p:cNvGraphicFramePr/>
          <p:nvPr/>
        </p:nvGraphicFramePr>
        <p:xfrm>
          <a:off x="548640" y="1371600"/>
          <a:ext cx="466344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1280160"/>
            <a:ext cx="3108960" cy="1005840"/>
          </a:xfrm>
          <a:prstGeom prst="roundRect">
            <a:avLst>
              <a:gd name="adj" fmla="val 7273"/>
            </a:avLst>
          </a:prstGeom>
          <a:solidFill>
            <a:srgbClr val="FFFFFF"/>
          </a:solidFill>
          <a:ln w="12700">
            <a:solidFill>
              <a:srgbClr val="FFFFFF"/>
            </a:solidFill>
            <a:prstDash val="solid"/>
          </a:ln>
        </p:spPr>
      </p:sp>
      <p:sp>
        <p:nvSpPr>
          <p:cNvPr id="7" name="Text 4"/>
          <p:cNvSpPr txBox="1"/>
          <p:nvPr/>
        </p:nvSpPr>
        <p:spPr>
          <a:xfrm>
            <a:off x="5760720" y="1371600"/>
            <a:ext cx="2743200" cy="457200"/>
          </a:xfrm>
          <a:prstGeom prst="rect">
            <a:avLst/>
          </a:prstGeom>
          <a:noFill/>
          <a:ln/>
        </p:spPr>
        <p:txBody>
          <a:bodyPr wrap="square" lIns="0" tIns="0" rIns="0" bIns="0" rtlCol="0" anchor="t"/>
          <a:lstStyle/>
          <a:p>
            <a:pPr indent="0" marL="0">
              <a:buNone/>
            </a:pPr>
            <a:r>
              <a:rPr lang="en-US" sz="2400" b="1" dirty="0">
                <a:solidFill>
                  <a:srgbClr val="1F6B4A"/>
                </a:solidFill>
                <a:latin typeface="Cambria" pitchFamily="34" charset="0"/>
                <a:ea typeface="Cambria" pitchFamily="34" charset="-122"/>
                <a:cs typeface="Cambria" pitchFamily="34" charset="-120"/>
              </a:rPr>
              <a:t>93.98 t</a:t>
            </a:r>
            <a:endParaRPr lang="en-US" sz="2400" dirty="0"/>
          </a:p>
        </p:txBody>
      </p:sp>
      <p:sp>
        <p:nvSpPr>
          <p:cNvPr id="8" name="Text 5"/>
          <p:cNvSpPr txBox="1"/>
          <p:nvPr/>
        </p:nvSpPr>
        <p:spPr>
          <a:xfrm>
            <a:off x="5760720" y="1828800"/>
            <a:ext cx="2743200" cy="41148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Total net waste weighed across 18 tickets</a:t>
            </a:r>
            <a:endParaRPr lang="en-US" sz="1100" dirty="0"/>
          </a:p>
        </p:txBody>
      </p:sp>
      <p:sp>
        <p:nvSpPr>
          <p:cNvPr id="9" name="Shape 6"/>
          <p:cNvSpPr/>
          <p:nvPr/>
        </p:nvSpPr>
        <p:spPr>
          <a:xfrm>
            <a:off x="5577840" y="2450592"/>
            <a:ext cx="3108960" cy="1005840"/>
          </a:xfrm>
          <a:prstGeom prst="roundRect">
            <a:avLst>
              <a:gd name="adj" fmla="val 7273"/>
            </a:avLst>
          </a:prstGeom>
          <a:solidFill>
            <a:srgbClr val="FFFFFF"/>
          </a:solidFill>
          <a:ln w="12700">
            <a:solidFill>
              <a:srgbClr val="FFFFFF"/>
            </a:solidFill>
            <a:prstDash val="solid"/>
          </a:ln>
        </p:spPr>
      </p:sp>
      <p:sp>
        <p:nvSpPr>
          <p:cNvPr id="10" name="Text 7"/>
          <p:cNvSpPr txBox="1"/>
          <p:nvPr/>
        </p:nvSpPr>
        <p:spPr>
          <a:xfrm>
            <a:off x="5760720" y="2542032"/>
            <a:ext cx="2743200" cy="457200"/>
          </a:xfrm>
          <a:prstGeom prst="rect">
            <a:avLst/>
          </a:prstGeom>
          <a:noFill/>
          <a:ln/>
        </p:spPr>
        <p:txBody>
          <a:bodyPr wrap="square" lIns="0" tIns="0" rIns="0" bIns="0" rtlCol="0" anchor="t"/>
          <a:lstStyle/>
          <a:p>
            <a:pPr indent="0" marL="0">
              <a:buNone/>
            </a:pPr>
            <a:r>
              <a:rPr lang="en-US" sz="2400" b="1" dirty="0">
                <a:solidFill>
                  <a:srgbClr val="1F6B4A"/>
                </a:solidFill>
                <a:latin typeface="Cambria" pitchFamily="34" charset="0"/>
                <a:ea typeface="Cambria" pitchFamily="34" charset="-122"/>
                <a:cs typeface="Cambria" pitchFamily="34" charset="-120"/>
              </a:rPr>
              <a:t>42.09 t</a:t>
            </a:r>
            <a:endParaRPr lang="en-US" sz="2400" dirty="0"/>
          </a:p>
        </p:txBody>
      </p:sp>
      <p:sp>
        <p:nvSpPr>
          <p:cNvPr id="11" name="Text 8"/>
          <p:cNvSpPr txBox="1"/>
          <p:nvPr/>
        </p:nvSpPr>
        <p:spPr>
          <a:xfrm>
            <a:off x="5760720" y="2999232"/>
            <a:ext cx="2743200" cy="41148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Organic waste, the largest material category</a:t>
            </a:r>
            <a:endParaRPr lang="en-US" sz="1100" dirty="0"/>
          </a:p>
        </p:txBody>
      </p:sp>
      <p:sp>
        <p:nvSpPr>
          <p:cNvPr id="12" name="Shape 9"/>
          <p:cNvSpPr/>
          <p:nvPr/>
        </p:nvSpPr>
        <p:spPr>
          <a:xfrm>
            <a:off x="5577840" y="3621024"/>
            <a:ext cx="3108960" cy="1005840"/>
          </a:xfrm>
          <a:prstGeom prst="roundRect">
            <a:avLst>
              <a:gd name="adj" fmla="val 7273"/>
            </a:avLst>
          </a:prstGeom>
          <a:solidFill>
            <a:srgbClr val="FFFFFF"/>
          </a:solidFill>
          <a:ln w="12700">
            <a:solidFill>
              <a:srgbClr val="FFFFFF"/>
            </a:solidFill>
            <a:prstDash val="solid"/>
          </a:ln>
        </p:spPr>
      </p:sp>
      <p:sp>
        <p:nvSpPr>
          <p:cNvPr id="13" name="Text 10"/>
          <p:cNvSpPr txBox="1"/>
          <p:nvPr/>
        </p:nvSpPr>
        <p:spPr>
          <a:xfrm>
            <a:off x="5760720" y="3712464"/>
            <a:ext cx="2743200" cy="457200"/>
          </a:xfrm>
          <a:prstGeom prst="rect">
            <a:avLst/>
          </a:prstGeom>
          <a:noFill/>
          <a:ln/>
        </p:spPr>
        <p:txBody>
          <a:bodyPr wrap="square" lIns="0" tIns="0" rIns="0" bIns="0" rtlCol="0" anchor="t"/>
          <a:lstStyle/>
          <a:p>
            <a:pPr indent="0" marL="0">
              <a:buNone/>
            </a:pPr>
            <a:r>
              <a:rPr lang="en-US" sz="2400" b="1" dirty="0">
                <a:solidFill>
                  <a:srgbClr val="1F6B4A"/>
                </a:solidFill>
                <a:latin typeface="Cambria" pitchFamily="34" charset="0"/>
                <a:ea typeface="Cambria" pitchFamily="34" charset="-122"/>
                <a:cs typeface="Cambria" pitchFamily="34" charset="-120"/>
              </a:rPr>
              <a:t>1 vehicle</a:t>
            </a:r>
            <a:endParaRPr lang="en-US" sz="2400" dirty="0"/>
          </a:p>
        </p:txBody>
      </p:sp>
      <p:sp>
        <p:nvSpPr>
          <p:cNvPr id="14" name="Text 11"/>
          <p:cNvSpPr txBox="1"/>
          <p:nvPr/>
        </p:nvSpPr>
        <p:spPr>
          <a:xfrm>
            <a:off x="5760720" y="4169664"/>
            <a:ext cx="2743200" cy="41148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DL-01-AB-1007 (inactive) has no trips (Query 12)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Transactions &amp; ACID</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All-or-nothing operations for consistent data</a:t>
            </a:r>
            <a:endParaRPr lang="en-US" sz="1300" dirty="0"/>
          </a:p>
        </p:txBody>
      </p:sp>
      <p:sp>
        <p:nvSpPr>
          <p:cNvPr id="4" name="Shape 2"/>
          <p:cNvSpPr/>
          <p:nvPr/>
        </p:nvSpPr>
        <p:spPr>
          <a:xfrm>
            <a:off x="457200" y="1325880"/>
            <a:ext cx="1920240" cy="1554480"/>
          </a:xfrm>
          <a:prstGeom prst="roundRect">
            <a:avLst>
              <a:gd name="adj" fmla="val 4706"/>
            </a:avLst>
          </a:prstGeom>
          <a:solidFill>
            <a:srgbClr val="EEF6F0"/>
          </a:solidFill>
          <a:ln w="12700">
            <a:solidFill>
              <a:srgbClr val="EEF6F0"/>
            </a:solidFill>
            <a:prstDash val="solid"/>
          </a:ln>
        </p:spPr>
      </p:sp>
      <p:sp>
        <p:nvSpPr>
          <p:cNvPr id="5" name="Shape 3"/>
          <p:cNvSpPr/>
          <p:nvPr/>
        </p:nvSpPr>
        <p:spPr>
          <a:xfrm>
            <a:off x="640080" y="1508760"/>
            <a:ext cx="548640" cy="548640"/>
          </a:xfrm>
          <a:prstGeom prst="ellipse">
            <a:avLst/>
          </a:prstGeom>
          <a:solidFill>
            <a:srgbClr val="1F6B4A"/>
          </a:solidFill>
          <a:ln w="12700">
            <a:solidFill>
              <a:srgbClr val="1F6B4A"/>
            </a:solidFill>
            <a:prstDash val="solid"/>
          </a:ln>
        </p:spPr>
      </p:sp>
      <p:sp>
        <p:nvSpPr>
          <p:cNvPr id="6" name="Text 4"/>
          <p:cNvSpPr txBox="1"/>
          <p:nvPr/>
        </p:nvSpPr>
        <p:spPr>
          <a:xfrm>
            <a:off x="640080"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7" name="Text 5"/>
          <p:cNvSpPr txBox="1"/>
          <p:nvPr/>
        </p:nvSpPr>
        <p:spPr>
          <a:xfrm>
            <a:off x="640080" y="2148840"/>
            <a:ext cx="164592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Atomicity</a:t>
            </a:r>
            <a:endParaRPr lang="en-US" sz="1400" dirty="0"/>
          </a:p>
        </p:txBody>
      </p:sp>
      <p:sp>
        <p:nvSpPr>
          <p:cNvPr id="8" name="Text 6"/>
          <p:cNvSpPr txBox="1"/>
          <p:nvPr/>
        </p:nvSpPr>
        <p:spPr>
          <a:xfrm>
            <a:off x="640080" y="2404872"/>
            <a:ext cx="16459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All steps succeed or none do (ROLLBACK)</a:t>
            </a:r>
            <a:endParaRPr lang="en-US" sz="1100" dirty="0"/>
          </a:p>
        </p:txBody>
      </p:sp>
      <p:sp>
        <p:nvSpPr>
          <p:cNvPr id="9" name="Shape 7"/>
          <p:cNvSpPr/>
          <p:nvPr/>
        </p:nvSpPr>
        <p:spPr>
          <a:xfrm>
            <a:off x="2514600" y="1325880"/>
            <a:ext cx="1920240" cy="1554480"/>
          </a:xfrm>
          <a:prstGeom prst="roundRect">
            <a:avLst>
              <a:gd name="adj" fmla="val 4706"/>
            </a:avLst>
          </a:prstGeom>
          <a:solidFill>
            <a:srgbClr val="EEF6F0"/>
          </a:solidFill>
          <a:ln w="12700">
            <a:solidFill>
              <a:srgbClr val="EEF6F0"/>
            </a:solidFill>
            <a:prstDash val="solid"/>
          </a:ln>
        </p:spPr>
      </p:sp>
      <p:sp>
        <p:nvSpPr>
          <p:cNvPr id="10" name="Shape 8"/>
          <p:cNvSpPr/>
          <p:nvPr/>
        </p:nvSpPr>
        <p:spPr>
          <a:xfrm>
            <a:off x="2697480" y="1508760"/>
            <a:ext cx="548640" cy="548640"/>
          </a:xfrm>
          <a:prstGeom prst="ellipse">
            <a:avLst/>
          </a:prstGeom>
          <a:solidFill>
            <a:srgbClr val="1F6B4A"/>
          </a:solidFill>
          <a:ln w="12700">
            <a:solidFill>
              <a:srgbClr val="1F6B4A"/>
            </a:solidFill>
            <a:prstDash val="solid"/>
          </a:ln>
        </p:spPr>
      </p:sp>
      <p:sp>
        <p:nvSpPr>
          <p:cNvPr id="11" name="Text 9"/>
          <p:cNvSpPr txBox="1"/>
          <p:nvPr/>
        </p:nvSpPr>
        <p:spPr>
          <a:xfrm>
            <a:off x="2697480"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2" name="Text 10"/>
          <p:cNvSpPr txBox="1"/>
          <p:nvPr/>
        </p:nvSpPr>
        <p:spPr>
          <a:xfrm>
            <a:off x="2697480" y="2148840"/>
            <a:ext cx="164592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Consistency</a:t>
            </a:r>
            <a:endParaRPr lang="en-US" sz="1400" dirty="0"/>
          </a:p>
        </p:txBody>
      </p:sp>
      <p:sp>
        <p:nvSpPr>
          <p:cNvPr id="13" name="Text 11"/>
          <p:cNvSpPr txBox="1"/>
          <p:nvPr/>
        </p:nvSpPr>
        <p:spPr>
          <a:xfrm>
            <a:off x="2697480" y="2404872"/>
            <a:ext cx="16459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Constraints hold before and after</a:t>
            </a:r>
            <a:endParaRPr lang="en-US" sz="1100" dirty="0"/>
          </a:p>
        </p:txBody>
      </p:sp>
      <p:sp>
        <p:nvSpPr>
          <p:cNvPr id="14" name="Shape 12"/>
          <p:cNvSpPr/>
          <p:nvPr/>
        </p:nvSpPr>
        <p:spPr>
          <a:xfrm>
            <a:off x="457200" y="3063240"/>
            <a:ext cx="1920240" cy="1554480"/>
          </a:xfrm>
          <a:prstGeom prst="roundRect">
            <a:avLst>
              <a:gd name="adj" fmla="val 4706"/>
            </a:avLst>
          </a:prstGeom>
          <a:solidFill>
            <a:srgbClr val="EEF6F0"/>
          </a:solidFill>
          <a:ln w="12700">
            <a:solidFill>
              <a:srgbClr val="EEF6F0"/>
            </a:solidFill>
            <a:prstDash val="solid"/>
          </a:ln>
        </p:spPr>
      </p:sp>
      <p:sp>
        <p:nvSpPr>
          <p:cNvPr id="15" name="Shape 13"/>
          <p:cNvSpPr/>
          <p:nvPr/>
        </p:nvSpPr>
        <p:spPr>
          <a:xfrm>
            <a:off x="640080" y="3246120"/>
            <a:ext cx="548640" cy="548640"/>
          </a:xfrm>
          <a:prstGeom prst="ellipse">
            <a:avLst/>
          </a:prstGeom>
          <a:solidFill>
            <a:srgbClr val="1F6B4A"/>
          </a:solidFill>
          <a:ln w="12700">
            <a:solidFill>
              <a:srgbClr val="1F6B4A"/>
            </a:solidFill>
            <a:prstDash val="solid"/>
          </a:ln>
        </p:spPr>
      </p:sp>
      <p:sp>
        <p:nvSpPr>
          <p:cNvPr id="16" name="Text 14"/>
          <p:cNvSpPr txBox="1"/>
          <p:nvPr/>
        </p:nvSpPr>
        <p:spPr>
          <a:xfrm>
            <a:off x="640080" y="3246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17" name="Text 15"/>
          <p:cNvSpPr txBox="1"/>
          <p:nvPr/>
        </p:nvSpPr>
        <p:spPr>
          <a:xfrm>
            <a:off x="640080" y="3886200"/>
            <a:ext cx="164592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Isolation</a:t>
            </a:r>
            <a:endParaRPr lang="en-US" sz="1400" dirty="0"/>
          </a:p>
        </p:txBody>
      </p:sp>
      <p:sp>
        <p:nvSpPr>
          <p:cNvPr id="18" name="Text 16"/>
          <p:cNvSpPr txBox="1"/>
          <p:nvPr/>
        </p:nvSpPr>
        <p:spPr>
          <a:xfrm>
            <a:off x="640080" y="4142232"/>
            <a:ext cx="16459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Parallel transactions don't interfere</a:t>
            </a:r>
            <a:endParaRPr lang="en-US" sz="1100" dirty="0"/>
          </a:p>
        </p:txBody>
      </p:sp>
      <p:sp>
        <p:nvSpPr>
          <p:cNvPr id="19" name="Shape 17"/>
          <p:cNvSpPr/>
          <p:nvPr/>
        </p:nvSpPr>
        <p:spPr>
          <a:xfrm>
            <a:off x="2514600" y="3063240"/>
            <a:ext cx="1920240" cy="1554480"/>
          </a:xfrm>
          <a:prstGeom prst="roundRect">
            <a:avLst>
              <a:gd name="adj" fmla="val 4706"/>
            </a:avLst>
          </a:prstGeom>
          <a:solidFill>
            <a:srgbClr val="EEF6F0"/>
          </a:solidFill>
          <a:ln w="12700">
            <a:solidFill>
              <a:srgbClr val="EEF6F0"/>
            </a:solidFill>
            <a:prstDash val="solid"/>
          </a:ln>
        </p:spPr>
      </p:sp>
      <p:sp>
        <p:nvSpPr>
          <p:cNvPr id="20" name="Shape 18"/>
          <p:cNvSpPr/>
          <p:nvPr/>
        </p:nvSpPr>
        <p:spPr>
          <a:xfrm>
            <a:off x="2697480" y="3246120"/>
            <a:ext cx="548640" cy="548640"/>
          </a:xfrm>
          <a:prstGeom prst="ellipse">
            <a:avLst/>
          </a:prstGeom>
          <a:solidFill>
            <a:srgbClr val="1F6B4A"/>
          </a:solidFill>
          <a:ln w="12700">
            <a:solidFill>
              <a:srgbClr val="1F6B4A"/>
            </a:solidFill>
            <a:prstDash val="solid"/>
          </a:ln>
        </p:spPr>
      </p:sp>
      <p:sp>
        <p:nvSpPr>
          <p:cNvPr id="21" name="Text 19"/>
          <p:cNvSpPr txBox="1"/>
          <p:nvPr/>
        </p:nvSpPr>
        <p:spPr>
          <a:xfrm>
            <a:off x="2697480" y="3246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22" name="Text 20"/>
          <p:cNvSpPr txBox="1"/>
          <p:nvPr/>
        </p:nvSpPr>
        <p:spPr>
          <a:xfrm>
            <a:off x="2697480" y="3886200"/>
            <a:ext cx="1645920" cy="27432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Durability</a:t>
            </a:r>
            <a:endParaRPr lang="en-US" sz="1400" dirty="0"/>
          </a:p>
        </p:txBody>
      </p:sp>
      <p:sp>
        <p:nvSpPr>
          <p:cNvPr id="23" name="Text 21"/>
          <p:cNvSpPr txBox="1"/>
          <p:nvPr/>
        </p:nvSpPr>
        <p:spPr>
          <a:xfrm>
            <a:off x="2697480" y="4142232"/>
            <a:ext cx="1645920" cy="45720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COMMIT survives crashes (WAL)</a:t>
            </a:r>
            <a:endParaRPr lang="en-US" sz="1100" dirty="0"/>
          </a:p>
        </p:txBody>
      </p:sp>
      <p:sp>
        <p:nvSpPr>
          <p:cNvPr id="24" name="Text 22"/>
          <p:cNvSpPr txBox="1"/>
          <p:nvPr/>
        </p:nvSpPr>
        <p:spPr>
          <a:xfrm>
            <a:off x="4754880" y="1234440"/>
            <a:ext cx="3931920" cy="274320"/>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Transaction 3: multi-step trip completion</a:t>
            </a:r>
            <a:endParaRPr lang="en-US" sz="1300" dirty="0"/>
          </a:p>
        </p:txBody>
      </p:sp>
      <p:sp>
        <p:nvSpPr>
          <p:cNvPr id="25" name="Shape 23"/>
          <p:cNvSpPr/>
          <p:nvPr/>
        </p:nvSpPr>
        <p:spPr>
          <a:xfrm>
            <a:off x="4754880" y="1554480"/>
            <a:ext cx="3931920" cy="3154680"/>
          </a:xfrm>
          <a:prstGeom prst="roundRect">
            <a:avLst>
              <a:gd name="adj" fmla="val 1739"/>
            </a:avLst>
          </a:prstGeom>
          <a:solidFill>
            <a:srgbClr val="14342B"/>
          </a:solidFill>
          <a:ln w="12700">
            <a:solidFill>
              <a:srgbClr val="14342B"/>
            </a:solidFill>
            <a:prstDash val="solid"/>
          </a:ln>
        </p:spPr>
      </p:sp>
      <p:sp>
        <p:nvSpPr>
          <p:cNvPr id="26" name="Text 24"/>
          <p:cNvSpPr txBox="1"/>
          <p:nvPr/>
        </p:nvSpPr>
        <p:spPr>
          <a:xfrm>
            <a:off x="4892040" y="1664208"/>
            <a:ext cx="3657600" cy="2935224"/>
          </a:xfrm>
          <a:prstGeom prst="rect">
            <a:avLst/>
          </a:prstGeom>
          <a:noFill/>
          <a:ln/>
        </p:spPr>
        <p:txBody>
          <a:bodyPr wrap="square" lIns="0" tIns="0" rIns="0" bIns="0" rtlCol="0" anchor="t"/>
          <a:lstStyle/>
          <a:p>
            <a:pPr indent="0" marL="0">
              <a:buNone/>
            </a:pPr>
            <a:r>
              <a:rPr lang="en-US" sz="1000" dirty="0">
                <a:solidFill>
                  <a:srgbClr val="E6F4EA"/>
                </a:solidFill>
                <a:latin typeface="Courier New" pitchFamily="34" charset="0"/>
                <a:ea typeface="Courier New" pitchFamily="34" charset="-122"/>
                <a:cs typeface="Courier New" pitchFamily="34" charset="-120"/>
              </a:rPr>
              <a:t>BEGIN;</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-- 1. new trip</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INSERT INTO trip (...) VALUES</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(2, 2, 2, '2026-09-18', ...);</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-- 2. weigh it</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INSERT INTO weighbridge_ticket (...)</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VALUES (20, 5200, 1100, 4100, ...);</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-- 3. split by material into batch 5</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INSERT INTO batch_allocation (...)</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VALUES (5, 20, 1, 2000.00),</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(5, 20, 3, 2100.00);</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-- 4. update batch load</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UPDATE processing_batch</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SET current_load_kg =</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current_load_kg + 4100.00</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  WHERE batch_id = 5;</a:t>
            </a:r>
            <a:endParaRPr lang="en-US" sz="1000" dirty="0"/>
          </a:p>
          <a:p>
            <a:pPr indent="0" marL="0">
              <a:buNone/>
            </a:pPr>
            <a:r>
              <a:rPr lang="en-US" sz="1000" dirty="0">
                <a:solidFill>
                  <a:srgbClr val="E6F4EA"/>
                </a:solidFill>
                <a:latin typeface="Courier New" pitchFamily="34" charset="0"/>
                <a:ea typeface="Courier New" pitchFamily="34" charset="-122"/>
                <a:cs typeface="Courier New" pitchFamily="34" charset="-120"/>
              </a:rPr>
              <a:t>COMMIT;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6F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Concurrency Control</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6 scenarios, tested with two parallel psql sessions</a:t>
            </a:r>
            <a:endParaRPr lang="en-US" sz="1300" dirty="0"/>
          </a:p>
        </p:txBody>
      </p:sp>
      <p:sp>
        <p:nvSpPr>
          <p:cNvPr id="4" name="Shape 2"/>
          <p:cNvSpPr/>
          <p:nvPr/>
        </p:nvSpPr>
        <p:spPr>
          <a:xfrm>
            <a:off x="457200" y="1280160"/>
            <a:ext cx="2606040" cy="1097280"/>
          </a:xfrm>
          <a:prstGeom prst="roundRect">
            <a:avLst>
              <a:gd name="adj" fmla="val 6667"/>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640080" y="1463040"/>
            <a:ext cx="274320" cy="274320"/>
          </a:xfrm>
          <a:prstGeom prst="rect">
            <a:avLst/>
          </a:prstGeom>
        </p:spPr>
      </p:pic>
      <p:sp>
        <p:nvSpPr>
          <p:cNvPr id="6" name="Text 3"/>
          <p:cNvSpPr txBox="1"/>
          <p:nvPr/>
        </p:nvSpPr>
        <p:spPr>
          <a:xfrm>
            <a:off x="1005840" y="1444752"/>
            <a:ext cx="19202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Lost update</a:t>
            </a:r>
            <a:endParaRPr lang="en-US" sz="1400" dirty="0"/>
          </a:p>
        </p:txBody>
      </p:sp>
      <p:sp>
        <p:nvSpPr>
          <p:cNvPr id="7" name="Text 4"/>
          <p:cNvSpPr txBox="1"/>
          <p:nvPr/>
        </p:nvSpPr>
        <p:spPr>
          <a:xfrm>
            <a:off x="640080" y="1810512"/>
            <a:ext cx="2286000" cy="50292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Two sessions update batch 5 load; the second overwrites the first</a:t>
            </a:r>
            <a:endParaRPr lang="en-US" sz="1100" dirty="0"/>
          </a:p>
        </p:txBody>
      </p:sp>
      <p:sp>
        <p:nvSpPr>
          <p:cNvPr id="8" name="Shape 5"/>
          <p:cNvSpPr/>
          <p:nvPr/>
        </p:nvSpPr>
        <p:spPr>
          <a:xfrm>
            <a:off x="3264408" y="1280160"/>
            <a:ext cx="2606040" cy="1097280"/>
          </a:xfrm>
          <a:prstGeom prst="roundRect">
            <a:avLst>
              <a:gd name="adj" fmla="val 6667"/>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447288" y="1463040"/>
            <a:ext cx="274320" cy="274320"/>
          </a:xfrm>
          <a:prstGeom prst="rect">
            <a:avLst/>
          </a:prstGeom>
        </p:spPr>
      </p:pic>
      <p:sp>
        <p:nvSpPr>
          <p:cNvPr id="10" name="Text 6"/>
          <p:cNvSpPr txBox="1"/>
          <p:nvPr/>
        </p:nvSpPr>
        <p:spPr>
          <a:xfrm>
            <a:off x="3813048" y="1444752"/>
            <a:ext cx="19202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Serializable reads</a:t>
            </a:r>
            <a:endParaRPr lang="en-US" sz="1400" dirty="0"/>
          </a:p>
        </p:txBody>
      </p:sp>
      <p:sp>
        <p:nvSpPr>
          <p:cNvPr id="11" name="Text 7"/>
          <p:cNvSpPr txBox="1"/>
          <p:nvPr/>
        </p:nvSpPr>
        <p:spPr>
          <a:xfrm>
            <a:off x="3447288" y="1810512"/>
            <a:ext cx="2286000" cy="50292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SERIALIZABLE gives a consistent count of zone trips</a:t>
            </a:r>
            <a:endParaRPr lang="en-US" sz="1100" dirty="0"/>
          </a:p>
        </p:txBody>
      </p:sp>
      <p:sp>
        <p:nvSpPr>
          <p:cNvPr id="12" name="Shape 8"/>
          <p:cNvSpPr/>
          <p:nvPr/>
        </p:nvSpPr>
        <p:spPr>
          <a:xfrm>
            <a:off x="6071616" y="1280160"/>
            <a:ext cx="2606040" cy="1097280"/>
          </a:xfrm>
          <a:prstGeom prst="roundRect">
            <a:avLst>
              <a:gd name="adj" fmla="val 6667"/>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6254496" y="1463040"/>
            <a:ext cx="274320" cy="274320"/>
          </a:xfrm>
          <a:prstGeom prst="rect">
            <a:avLst/>
          </a:prstGeom>
        </p:spPr>
      </p:pic>
      <p:sp>
        <p:nvSpPr>
          <p:cNvPr id="14" name="Text 9"/>
          <p:cNvSpPr txBox="1"/>
          <p:nvPr/>
        </p:nvSpPr>
        <p:spPr>
          <a:xfrm>
            <a:off x="6620256" y="1444752"/>
            <a:ext cx="19202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Phantom read</a:t>
            </a:r>
            <a:endParaRPr lang="en-US" sz="1400" dirty="0"/>
          </a:p>
        </p:txBody>
      </p:sp>
      <p:sp>
        <p:nvSpPr>
          <p:cNvPr id="15" name="Text 10"/>
          <p:cNvSpPr txBox="1"/>
          <p:nvPr/>
        </p:nvSpPr>
        <p:spPr>
          <a:xfrm>
            <a:off x="6254496" y="1810512"/>
            <a:ext cx="2286000" cy="50292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New zone inserted mid-transaction appears on re-read</a:t>
            </a:r>
            <a:endParaRPr lang="en-US" sz="1100" dirty="0"/>
          </a:p>
        </p:txBody>
      </p:sp>
      <p:sp>
        <p:nvSpPr>
          <p:cNvPr id="16" name="Shape 11"/>
          <p:cNvSpPr/>
          <p:nvPr/>
        </p:nvSpPr>
        <p:spPr>
          <a:xfrm>
            <a:off x="457200" y="2514600"/>
            <a:ext cx="2606040" cy="1097280"/>
          </a:xfrm>
          <a:prstGeom prst="roundRect">
            <a:avLst>
              <a:gd name="adj" fmla="val 6667"/>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640080" y="2697480"/>
            <a:ext cx="274320" cy="274320"/>
          </a:xfrm>
          <a:prstGeom prst="rect">
            <a:avLst/>
          </a:prstGeom>
        </p:spPr>
      </p:pic>
      <p:sp>
        <p:nvSpPr>
          <p:cNvPr id="18" name="Text 12"/>
          <p:cNvSpPr txBox="1"/>
          <p:nvPr/>
        </p:nvSpPr>
        <p:spPr>
          <a:xfrm>
            <a:off x="1005840" y="2679192"/>
            <a:ext cx="19202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Row locking</a:t>
            </a:r>
            <a:endParaRPr lang="en-US" sz="1400" dirty="0"/>
          </a:p>
        </p:txBody>
      </p:sp>
      <p:sp>
        <p:nvSpPr>
          <p:cNvPr id="19" name="Text 13"/>
          <p:cNvSpPr txBox="1"/>
          <p:nvPr/>
        </p:nvSpPr>
        <p:spPr>
          <a:xfrm>
            <a:off x="640080" y="3044952"/>
            <a:ext cx="2286000" cy="50292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SELECT … FOR UPDATE on a trip blocks other writers</a:t>
            </a:r>
            <a:endParaRPr lang="en-US" sz="1100" dirty="0"/>
          </a:p>
        </p:txBody>
      </p:sp>
      <p:sp>
        <p:nvSpPr>
          <p:cNvPr id="20" name="Shape 14"/>
          <p:cNvSpPr/>
          <p:nvPr/>
        </p:nvSpPr>
        <p:spPr>
          <a:xfrm>
            <a:off x="3264408" y="2514600"/>
            <a:ext cx="2606040" cy="1097280"/>
          </a:xfrm>
          <a:prstGeom prst="roundRect">
            <a:avLst>
              <a:gd name="adj" fmla="val 6667"/>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3447288" y="2697480"/>
            <a:ext cx="274320" cy="274320"/>
          </a:xfrm>
          <a:prstGeom prst="rect">
            <a:avLst/>
          </a:prstGeom>
        </p:spPr>
      </p:pic>
      <p:sp>
        <p:nvSpPr>
          <p:cNvPr id="22" name="Text 15"/>
          <p:cNvSpPr txBox="1"/>
          <p:nvPr/>
        </p:nvSpPr>
        <p:spPr>
          <a:xfrm>
            <a:off x="3813048" y="2679192"/>
            <a:ext cx="19202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Safe batch allocation</a:t>
            </a:r>
            <a:endParaRPr lang="en-US" sz="1400" dirty="0"/>
          </a:p>
        </p:txBody>
      </p:sp>
      <p:sp>
        <p:nvSpPr>
          <p:cNvPr id="23" name="Text 16"/>
          <p:cNvSpPr txBox="1"/>
          <p:nvPr/>
        </p:nvSpPr>
        <p:spPr>
          <a:xfrm>
            <a:off x="3447288" y="3044952"/>
            <a:ext cx="2286000" cy="50292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Lock batch 4, update only if load stays within capacity</a:t>
            </a:r>
            <a:endParaRPr lang="en-US" sz="1100" dirty="0"/>
          </a:p>
        </p:txBody>
      </p:sp>
      <p:sp>
        <p:nvSpPr>
          <p:cNvPr id="24" name="Shape 17"/>
          <p:cNvSpPr/>
          <p:nvPr/>
        </p:nvSpPr>
        <p:spPr>
          <a:xfrm>
            <a:off x="6071616" y="2514600"/>
            <a:ext cx="2606040" cy="1097280"/>
          </a:xfrm>
          <a:prstGeom prst="roundRect">
            <a:avLst>
              <a:gd name="adj" fmla="val 6667"/>
            </a:avLst>
          </a:prstGeom>
          <a:solidFill>
            <a:srgbClr val="FFFFFF"/>
          </a:solidFill>
          <a:ln w="1270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6254496" y="2697480"/>
            <a:ext cx="274320" cy="274320"/>
          </a:xfrm>
          <a:prstGeom prst="rect">
            <a:avLst/>
          </a:prstGeom>
        </p:spPr>
      </p:pic>
      <p:sp>
        <p:nvSpPr>
          <p:cNvPr id="26" name="Text 18"/>
          <p:cNvSpPr txBox="1"/>
          <p:nvPr/>
        </p:nvSpPr>
        <p:spPr>
          <a:xfrm>
            <a:off x="6620256" y="2679192"/>
            <a:ext cx="19202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Deadlock prevention</a:t>
            </a:r>
            <a:endParaRPr lang="en-US" sz="1400" dirty="0"/>
          </a:p>
        </p:txBody>
      </p:sp>
      <p:sp>
        <p:nvSpPr>
          <p:cNvPr id="27" name="Text 19"/>
          <p:cNvSpPr txBox="1"/>
          <p:nvPr/>
        </p:nvSpPr>
        <p:spPr>
          <a:xfrm>
            <a:off x="6254496" y="3044952"/>
            <a:ext cx="2286000" cy="502920"/>
          </a:xfrm>
          <a:prstGeom prst="rect">
            <a:avLst/>
          </a:prstGeom>
          <a:noFill/>
          <a:ln/>
        </p:spPr>
        <p:txBody>
          <a:bodyPr wrap="square" lIns="0" tIns="0" rIns="0" bIns="0" rtlCol="0" anchor="t"/>
          <a:lstStyle/>
          <a:p>
            <a:pPr indent="0" marL="0">
              <a:buNone/>
            </a:pPr>
            <a:r>
              <a:rPr lang="en-US" sz="1100" dirty="0">
                <a:solidFill>
                  <a:srgbClr val="5B6B65"/>
                </a:solidFill>
                <a:latin typeface="Calibri" pitchFamily="34" charset="0"/>
                <a:ea typeface="Calibri" pitchFamily="34" charset="-122"/>
                <a:cs typeface="Calibri" pitchFamily="34" charset="-120"/>
              </a:rPr>
              <a:t>Always lock batches in the same order</a:t>
            </a:r>
            <a:endParaRPr lang="en-US" sz="1100" dirty="0"/>
          </a:p>
        </p:txBody>
      </p:sp>
      <p:sp>
        <p:nvSpPr>
          <p:cNvPr id="28" name="Shape 20"/>
          <p:cNvSpPr/>
          <p:nvPr/>
        </p:nvSpPr>
        <p:spPr>
          <a:xfrm>
            <a:off x="457200" y="3840480"/>
            <a:ext cx="8229600" cy="868680"/>
          </a:xfrm>
          <a:prstGeom prst="roundRect">
            <a:avLst>
              <a:gd name="adj" fmla="val 8421"/>
            </a:avLst>
          </a:prstGeom>
          <a:solidFill>
            <a:srgbClr val="14342B"/>
          </a:solidFill>
          <a:ln w="12700">
            <a:solidFill>
              <a:srgbClr val="14342B"/>
            </a:solidFill>
            <a:prstDash val="solid"/>
          </a:ln>
        </p:spPr>
      </p:sp>
      <p:sp>
        <p:nvSpPr>
          <p:cNvPr id="29" name="Text 21"/>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200" b="1" dirty="0">
                <a:solidFill>
                  <a:srgbClr val="A8D84E"/>
                </a:solidFill>
                <a:latin typeface="Calibri" pitchFamily="34" charset="0"/>
                <a:ea typeface="Calibri" pitchFamily="34" charset="-122"/>
                <a:cs typeface="Calibri" pitchFamily="34" charset="-120"/>
              </a:rPr>
              <a:t>Isolation levels: </a:t>
            </a:r>
            <a:pPr indent="0" marL="0">
              <a:buNone/>
            </a:pPr>
            <a:r>
              <a:rPr lang="en-US" sz="1200" dirty="0">
                <a:solidFill>
                  <a:srgbClr val="FFFFFF"/>
                </a:solidFill>
                <a:latin typeface="Calibri" pitchFamily="34" charset="0"/>
                <a:ea typeface="Calibri" pitchFamily="34" charset="-122"/>
                <a:cs typeface="Calibri" pitchFamily="34" charset="-120"/>
              </a:rPr>
              <a:t>READ COMMITTED (PostgreSQL default) → REPEATABLE READ → SERIALIZABLE. Higher levels are safer but allow less concurrency. PostgreSQL uses MVCC, so readers never block writers.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4342B"/>
                </a:solidFill>
                <a:latin typeface="Cambria" pitchFamily="34" charset="0"/>
                <a:ea typeface="Cambria" pitchFamily="34" charset="-122"/>
                <a:cs typeface="Cambria" pitchFamily="34" charset="-120"/>
              </a:rPr>
              <a:t>Team Contributions</a:t>
            </a:r>
            <a:endParaRPr lang="en-US" sz="30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B65"/>
                </a:solidFill>
                <a:latin typeface="Calibri" pitchFamily="34" charset="0"/>
                <a:ea typeface="Calibri" pitchFamily="34" charset="-122"/>
                <a:cs typeface="Calibri" pitchFamily="34" charset="-120"/>
              </a:rPr>
              <a:t>How the work was divided</a:t>
            </a:r>
            <a:endParaRPr lang="en-US" sz="1300" dirty="0"/>
          </a:p>
        </p:txBody>
      </p:sp>
      <p:sp>
        <p:nvSpPr>
          <p:cNvPr id="4" name="Shape 2"/>
          <p:cNvSpPr/>
          <p:nvPr/>
        </p:nvSpPr>
        <p:spPr>
          <a:xfrm>
            <a:off x="457200" y="1325880"/>
            <a:ext cx="2606040" cy="3383280"/>
          </a:xfrm>
          <a:prstGeom prst="roundRect">
            <a:avLst>
              <a:gd name="adj" fmla="val 2807"/>
            </a:avLst>
          </a:prstGeom>
          <a:solidFill>
            <a:srgbClr val="EEF6F0"/>
          </a:solidFill>
          <a:ln w="12700">
            <a:solidFill>
              <a:srgbClr val="EEF6F0"/>
            </a:solidFill>
            <a:prstDash val="solid"/>
          </a:ln>
        </p:spPr>
      </p:sp>
      <p:sp>
        <p:nvSpPr>
          <p:cNvPr id="5" name="Shape 3"/>
          <p:cNvSpPr/>
          <p:nvPr/>
        </p:nvSpPr>
        <p:spPr>
          <a:xfrm>
            <a:off x="1389888" y="1554480"/>
            <a:ext cx="731520" cy="731520"/>
          </a:xfrm>
          <a:prstGeom prst="ellipse">
            <a:avLst/>
          </a:prstGeom>
          <a:solidFill>
            <a:srgbClr val="1F6B4A"/>
          </a:solidFill>
          <a:ln w="12700">
            <a:solidFill>
              <a:srgbClr val="1F6B4A"/>
            </a:solidFill>
            <a:prstDash val="solid"/>
          </a:ln>
        </p:spPr>
      </p:sp>
      <p:pic>
        <p:nvPicPr>
          <p:cNvPr id="6" name="Image 0" descr="preencoded.png">    </p:cNvPr>
          <p:cNvPicPr>
            <a:picLocks noChangeAspect="1"/>
          </p:cNvPicPr>
          <p:nvPr/>
        </p:nvPicPr>
        <p:blipFill>
          <a:blip r:embed="rId1"/>
          <a:stretch>
            <a:fillRect/>
          </a:stretch>
        </p:blipFill>
        <p:spPr>
          <a:xfrm>
            <a:off x="1572768" y="1737360"/>
            <a:ext cx="365760" cy="365760"/>
          </a:xfrm>
          <a:prstGeom prst="rect">
            <a:avLst/>
          </a:prstGeom>
        </p:spPr>
      </p:pic>
      <p:sp>
        <p:nvSpPr>
          <p:cNvPr id="7" name="Text 4"/>
          <p:cNvSpPr txBox="1"/>
          <p:nvPr/>
        </p:nvSpPr>
        <p:spPr>
          <a:xfrm>
            <a:off x="594360" y="2423160"/>
            <a:ext cx="2331720" cy="365760"/>
          </a:xfrm>
          <a:prstGeom prst="rect">
            <a:avLst/>
          </a:prstGeom>
          <a:noFill/>
          <a:ln/>
        </p:spPr>
        <p:txBody>
          <a:bodyPr wrap="square" lIns="0" tIns="0" rIns="0" bIns="0" rtlCol="0" anchor="t"/>
          <a:lstStyle/>
          <a:p>
            <a:pPr algn="ctr" indent="0" marL="0">
              <a:buNone/>
            </a:pPr>
            <a:r>
              <a:rPr lang="en-US" sz="1600" b="1" dirty="0">
                <a:solidFill>
                  <a:srgbClr val="14342B"/>
                </a:solidFill>
                <a:latin typeface="Calibri" pitchFamily="34" charset="0"/>
                <a:ea typeface="Calibri" pitchFamily="34" charset="-122"/>
                <a:cs typeface="Calibri" pitchFamily="34" charset="-120"/>
              </a:rPr>
              <a:t>Aditya Chouksey</a:t>
            </a:r>
            <a:endParaRPr lang="en-US" sz="1600" dirty="0"/>
          </a:p>
        </p:txBody>
      </p:sp>
      <p:sp>
        <p:nvSpPr>
          <p:cNvPr id="8" name="Text 5"/>
          <p:cNvSpPr txBox="1"/>
          <p:nvPr/>
        </p:nvSpPr>
        <p:spPr>
          <a:xfrm>
            <a:off x="594360" y="2788920"/>
            <a:ext cx="2331720" cy="320040"/>
          </a:xfrm>
          <a:prstGeom prst="rect">
            <a:avLst/>
          </a:prstGeom>
          <a:noFill/>
          <a:ln/>
        </p:spPr>
        <p:txBody>
          <a:bodyPr wrap="square" lIns="0" tIns="0" rIns="0" bIns="0" rtlCol="0" anchor="t"/>
          <a:lstStyle/>
          <a:p>
            <a:pPr algn="ctr" indent="0" marL="0">
              <a:buNone/>
            </a:pPr>
            <a:r>
              <a:rPr lang="en-US" sz="1200" i="1" dirty="0">
                <a:solidFill>
                  <a:srgbClr val="1F6B4A"/>
                </a:solidFill>
                <a:latin typeface="Calibri" pitchFamily="34" charset="0"/>
                <a:ea typeface="Calibri" pitchFamily="34" charset="-122"/>
                <a:cs typeface="Calibri" pitchFamily="34" charset="-120"/>
              </a:rPr>
              <a:t>Aggregation &amp; filtering</a:t>
            </a:r>
            <a:endParaRPr lang="en-US" sz="1200" dirty="0"/>
          </a:p>
        </p:txBody>
      </p:sp>
      <p:sp>
        <p:nvSpPr>
          <p:cNvPr id="9" name="Text 6"/>
          <p:cNvSpPr txBox="1"/>
          <p:nvPr/>
        </p:nvSpPr>
        <p:spPr>
          <a:xfrm>
            <a:off x="731520" y="3246120"/>
            <a:ext cx="2103120" cy="12801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Queries 2, 3</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Queries 5 – 10</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GROUP BY / HAVING reports</a:t>
            </a:r>
            <a:endParaRPr lang="en-US" sz="1200" dirty="0"/>
          </a:p>
        </p:txBody>
      </p:sp>
      <p:sp>
        <p:nvSpPr>
          <p:cNvPr id="10" name="Shape 7"/>
          <p:cNvSpPr/>
          <p:nvPr/>
        </p:nvSpPr>
        <p:spPr>
          <a:xfrm>
            <a:off x="3264408" y="1325880"/>
            <a:ext cx="2606040" cy="3383280"/>
          </a:xfrm>
          <a:prstGeom prst="roundRect">
            <a:avLst>
              <a:gd name="adj" fmla="val 2807"/>
            </a:avLst>
          </a:prstGeom>
          <a:solidFill>
            <a:srgbClr val="EEF6F0"/>
          </a:solidFill>
          <a:ln w="12700">
            <a:solidFill>
              <a:srgbClr val="EEF6F0"/>
            </a:solidFill>
            <a:prstDash val="solid"/>
          </a:ln>
        </p:spPr>
      </p:sp>
      <p:sp>
        <p:nvSpPr>
          <p:cNvPr id="11" name="Shape 8"/>
          <p:cNvSpPr/>
          <p:nvPr/>
        </p:nvSpPr>
        <p:spPr>
          <a:xfrm>
            <a:off x="4197096" y="1554480"/>
            <a:ext cx="731520" cy="731520"/>
          </a:xfrm>
          <a:prstGeom prst="ellipse">
            <a:avLst/>
          </a:prstGeom>
          <a:solidFill>
            <a:srgbClr val="1F6B4A"/>
          </a:solidFill>
          <a:ln w="12700">
            <a:solidFill>
              <a:srgbClr val="1F6B4A"/>
            </a:solidFill>
            <a:prstDash val="solid"/>
          </a:ln>
        </p:spPr>
      </p:sp>
      <p:pic>
        <p:nvPicPr>
          <p:cNvPr id="12" name="Image 1" descr="preencoded.png">    </p:cNvPr>
          <p:cNvPicPr>
            <a:picLocks noChangeAspect="1"/>
          </p:cNvPicPr>
          <p:nvPr/>
        </p:nvPicPr>
        <p:blipFill>
          <a:blip r:embed="rId2"/>
          <a:stretch>
            <a:fillRect/>
          </a:stretch>
        </p:blipFill>
        <p:spPr>
          <a:xfrm>
            <a:off x="4379976" y="1737360"/>
            <a:ext cx="365760" cy="365760"/>
          </a:xfrm>
          <a:prstGeom prst="rect">
            <a:avLst/>
          </a:prstGeom>
        </p:spPr>
      </p:pic>
      <p:sp>
        <p:nvSpPr>
          <p:cNvPr id="13" name="Text 9"/>
          <p:cNvSpPr txBox="1"/>
          <p:nvPr/>
        </p:nvSpPr>
        <p:spPr>
          <a:xfrm>
            <a:off x="3401568" y="2423160"/>
            <a:ext cx="2331720" cy="365760"/>
          </a:xfrm>
          <a:prstGeom prst="rect">
            <a:avLst/>
          </a:prstGeom>
          <a:noFill/>
          <a:ln/>
        </p:spPr>
        <p:txBody>
          <a:bodyPr wrap="square" lIns="0" tIns="0" rIns="0" bIns="0" rtlCol="0" anchor="t"/>
          <a:lstStyle/>
          <a:p>
            <a:pPr algn="ctr" indent="0" marL="0">
              <a:buNone/>
            </a:pPr>
            <a:r>
              <a:rPr lang="en-US" sz="1600" b="1" dirty="0">
                <a:solidFill>
                  <a:srgbClr val="14342B"/>
                </a:solidFill>
                <a:latin typeface="Calibri" pitchFamily="34" charset="0"/>
                <a:ea typeface="Calibri" pitchFamily="34" charset="-122"/>
                <a:cs typeface="Calibri" pitchFamily="34" charset="-120"/>
              </a:rPr>
              <a:t>Tanay Shelar</a:t>
            </a:r>
            <a:endParaRPr lang="en-US" sz="1600" dirty="0"/>
          </a:p>
        </p:txBody>
      </p:sp>
      <p:sp>
        <p:nvSpPr>
          <p:cNvPr id="14" name="Text 10"/>
          <p:cNvSpPr txBox="1"/>
          <p:nvPr/>
        </p:nvSpPr>
        <p:spPr>
          <a:xfrm>
            <a:off x="3401568" y="2788920"/>
            <a:ext cx="2331720" cy="320040"/>
          </a:xfrm>
          <a:prstGeom prst="rect">
            <a:avLst/>
          </a:prstGeom>
          <a:noFill/>
          <a:ln/>
        </p:spPr>
        <p:txBody>
          <a:bodyPr wrap="square" lIns="0" tIns="0" rIns="0" bIns="0" rtlCol="0" anchor="t"/>
          <a:lstStyle/>
          <a:p>
            <a:pPr algn="ctr" indent="0" marL="0">
              <a:buNone/>
            </a:pPr>
            <a:r>
              <a:rPr lang="en-US" sz="1200" i="1" dirty="0">
                <a:solidFill>
                  <a:srgbClr val="1F6B4A"/>
                </a:solidFill>
                <a:latin typeface="Calibri" pitchFamily="34" charset="0"/>
                <a:ea typeface="Calibri" pitchFamily="34" charset="-122"/>
                <a:cs typeface="Calibri" pitchFamily="34" charset="-120"/>
              </a:rPr>
              <a:t>Setup &amp; core queries</a:t>
            </a:r>
            <a:endParaRPr lang="en-US" sz="1200" dirty="0"/>
          </a:p>
        </p:txBody>
      </p:sp>
      <p:sp>
        <p:nvSpPr>
          <p:cNvPr id="15" name="Text 11"/>
          <p:cNvSpPr txBox="1"/>
          <p:nvPr/>
        </p:nvSpPr>
        <p:spPr>
          <a:xfrm>
            <a:off x="3538728" y="3246120"/>
            <a:ext cx="2103120" cy="12801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Database setup &amp; schema</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Seed data loading</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Queries 1, 4, 12, 13</a:t>
            </a:r>
            <a:endParaRPr lang="en-US" sz="1200" dirty="0"/>
          </a:p>
        </p:txBody>
      </p:sp>
      <p:sp>
        <p:nvSpPr>
          <p:cNvPr id="16" name="Shape 12"/>
          <p:cNvSpPr/>
          <p:nvPr/>
        </p:nvSpPr>
        <p:spPr>
          <a:xfrm>
            <a:off x="6071616" y="1325880"/>
            <a:ext cx="2606040" cy="3383280"/>
          </a:xfrm>
          <a:prstGeom prst="roundRect">
            <a:avLst>
              <a:gd name="adj" fmla="val 2807"/>
            </a:avLst>
          </a:prstGeom>
          <a:solidFill>
            <a:srgbClr val="EEF6F0"/>
          </a:solidFill>
          <a:ln w="12700">
            <a:solidFill>
              <a:srgbClr val="EEF6F0"/>
            </a:solidFill>
            <a:prstDash val="solid"/>
          </a:ln>
        </p:spPr>
      </p:sp>
      <p:sp>
        <p:nvSpPr>
          <p:cNvPr id="17" name="Shape 13"/>
          <p:cNvSpPr/>
          <p:nvPr/>
        </p:nvSpPr>
        <p:spPr>
          <a:xfrm>
            <a:off x="7004304" y="1554480"/>
            <a:ext cx="731520" cy="731520"/>
          </a:xfrm>
          <a:prstGeom prst="ellipse">
            <a:avLst/>
          </a:prstGeom>
          <a:solidFill>
            <a:srgbClr val="1F6B4A"/>
          </a:solidFill>
          <a:ln w="12700">
            <a:solidFill>
              <a:srgbClr val="1F6B4A"/>
            </a:solidFill>
            <a:prstDash val="solid"/>
          </a:ln>
        </p:spPr>
      </p:sp>
      <p:pic>
        <p:nvPicPr>
          <p:cNvPr id="18" name="Image 2" descr="preencoded.png">    </p:cNvPr>
          <p:cNvPicPr>
            <a:picLocks noChangeAspect="1"/>
          </p:cNvPicPr>
          <p:nvPr/>
        </p:nvPicPr>
        <p:blipFill>
          <a:blip r:embed="rId3"/>
          <a:stretch>
            <a:fillRect/>
          </a:stretch>
        </p:blipFill>
        <p:spPr>
          <a:xfrm>
            <a:off x="7187184" y="1737360"/>
            <a:ext cx="365760" cy="365760"/>
          </a:xfrm>
          <a:prstGeom prst="rect">
            <a:avLst/>
          </a:prstGeom>
        </p:spPr>
      </p:pic>
      <p:sp>
        <p:nvSpPr>
          <p:cNvPr id="19" name="Text 14"/>
          <p:cNvSpPr txBox="1"/>
          <p:nvPr/>
        </p:nvSpPr>
        <p:spPr>
          <a:xfrm>
            <a:off x="6208776" y="2423160"/>
            <a:ext cx="2331720" cy="365760"/>
          </a:xfrm>
          <a:prstGeom prst="rect">
            <a:avLst/>
          </a:prstGeom>
          <a:noFill/>
          <a:ln/>
        </p:spPr>
        <p:txBody>
          <a:bodyPr wrap="square" lIns="0" tIns="0" rIns="0" bIns="0" rtlCol="0" anchor="t"/>
          <a:lstStyle/>
          <a:p>
            <a:pPr algn="ctr" indent="0" marL="0">
              <a:buNone/>
            </a:pPr>
            <a:r>
              <a:rPr lang="en-US" sz="1600" b="1" dirty="0">
                <a:solidFill>
                  <a:srgbClr val="14342B"/>
                </a:solidFill>
                <a:latin typeface="Calibri" pitchFamily="34" charset="0"/>
                <a:ea typeface="Calibri" pitchFamily="34" charset="-122"/>
                <a:cs typeface="Calibri" pitchFamily="34" charset="-120"/>
              </a:rPr>
              <a:t>Janmesh Rohida</a:t>
            </a:r>
            <a:endParaRPr lang="en-US" sz="1600" dirty="0"/>
          </a:p>
        </p:txBody>
      </p:sp>
      <p:sp>
        <p:nvSpPr>
          <p:cNvPr id="20" name="Text 15"/>
          <p:cNvSpPr txBox="1"/>
          <p:nvPr/>
        </p:nvSpPr>
        <p:spPr>
          <a:xfrm>
            <a:off x="6208776" y="2788920"/>
            <a:ext cx="2331720" cy="320040"/>
          </a:xfrm>
          <a:prstGeom prst="rect">
            <a:avLst/>
          </a:prstGeom>
          <a:noFill/>
          <a:ln/>
        </p:spPr>
        <p:txBody>
          <a:bodyPr wrap="square" lIns="0" tIns="0" rIns="0" bIns="0" rtlCol="0" anchor="t"/>
          <a:lstStyle/>
          <a:p>
            <a:pPr algn="ctr" indent="0" marL="0">
              <a:buNone/>
            </a:pPr>
            <a:r>
              <a:rPr lang="en-US" sz="1200" i="1" dirty="0">
                <a:solidFill>
                  <a:srgbClr val="1F6B4A"/>
                </a:solidFill>
                <a:latin typeface="Calibri" pitchFamily="34" charset="0"/>
                <a:ea typeface="Calibri" pitchFamily="34" charset="-122"/>
                <a:cs typeface="Calibri" pitchFamily="34" charset="-120"/>
              </a:rPr>
              <a:t>Advanced SQL &amp; transactions</a:t>
            </a:r>
            <a:endParaRPr lang="en-US" sz="1200" dirty="0"/>
          </a:p>
        </p:txBody>
      </p:sp>
      <p:sp>
        <p:nvSpPr>
          <p:cNvPr id="21" name="Text 16"/>
          <p:cNvSpPr txBox="1"/>
          <p:nvPr/>
        </p:nvSpPr>
        <p:spPr>
          <a:xfrm>
            <a:off x="6345936" y="3246120"/>
            <a:ext cx="2103120" cy="12801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Queries 11, 14 – 20</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Transactions 1 – 4</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Concurrency scenarios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342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3" name="Shape 1"/>
          <p:cNvSpPr/>
          <p:nvPr/>
        </p:nvSpPr>
        <p:spPr>
          <a:xfrm>
            <a:off x="457200" y="1234440"/>
            <a:ext cx="594360" cy="594360"/>
          </a:xfrm>
          <a:prstGeom prst="ellipse">
            <a:avLst/>
          </a:prstGeom>
          <a:solidFill>
            <a:srgbClr val="A8D84E"/>
          </a:solidFill>
          <a:ln w="12700">
            <a:solidFill>
              <a:srgbClr val="A8D84E"/>
            </a:solidFill>
            <a:prstDash val="solid"/>
          </a:ln>
        </p:spPr>
      </p:sp>
      <p:pic>
        <p:nvPicPr>
          <p:cNvPr id="4" name="Image 0" descr="preencoded.png">    </p:cNvPr>
          <p:cNvPicPr>
            <a:picLocks noChangeAspect="1"/>
          </p:cNvPicPr>
          <p:nvPr/>
        </p:nvPicPr>
        <p:blipFill>
          <a:blip r:embed="rId1"/>
          <a:stretch>
            <a:fillRect/>
          </a:stretch>
        </p:blipFill>
        <p:spPr>
          <a:xfrm>
            <a:off x="605790" y="1383030"/>
            <a:ext cx="297180" cy="297180"/>
          </a:xfrm>
          <a:prstGeom prst="rect">
            <a:avLst/>
          </a:prstGeom>
        </p:spPr>
      </p:pic>
      <p:sp>
        <p:nvSpPr>
          <p:cNvPr id="5" name="Text 2"/>
          <p:cNvSpPr txBox="1"/>
          <p:nvPr/>
        </p:nvSpPr>
        <p:spPr>
          <a:xfrm>
            <a:off x="1234440" y="1325880"/>
            <a:ext cx="3108960" cy="411480"/>
          </a:xfrm>
          <a:prstGeom prst="rect">
            <a:avLst/>
          </a:prstGeom>
          <a:noFill/>
          <a:ln/>
        </p:spPr>
        <p:txBody>
          <a:bodyPr wrap="square" lIns="0" tIns="0" rIns="0" bIns="0" rtlCol="0" anchor="t"/>
          <a:lstStyle/>
          <a:p>
            <a:pPr indent="0" marL="0">
              <a:buNone/>
            </a:pPr>
            <a:r>
              <a:rPr lang="en-US" sz="2000" b="1" dirty="0">
                <a:solidFill>
                  <a:srgbClr val="A8D84E"/>
                </a:solidFill>
                <a:latin typeface="Cambria" pitchFamily="34" charset="0"/>
                <a:ea typeface="Cambria" pitchFamily="34" charset="-122"/>
                <a:cs typeface="Cambria" pitchFamily="34" charset="-120"/>
              </a:rPr>
              <a:t>What we achieved</a:t>
            </a:r>
            <a:endParaRPr lang="en-US" sz="2000" dirty="0"/>
          </a:p>
        </p:txBody>
      </p:sp>
      <p:sp>
        <p:nvSpPr>
          <p:cNvPr id="6" name="Text 3"/>
          <p:cNvSpPr txBox="1"/>
          <p:nvPr/>
        </p:nvSpPr>
        <p:spPr>
          <a:xfrm>
            <a:off x="548640" y="2057400"/>
            <a:ext cx="37490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DDEEE4"/>
                </a:solidFill>
                <a:latin typeface="Calibri" pitchFamily="34" charset="0"/>
                <a:ea typeface="Calibri" pitchFamily="34" charset="-122"/>
                <a:cs typeface="Calibri" pitchFamily="34" charset="-120"/>
              </a:rPr>
              <a:t>3NF PostgreSQL schema with keys and CHECK rules</a:t>
            </a:r>
            <a:endParaRPr lang="en-US" sz="1400" dirty="0"/>
          </a:p>
          <a:p>
            <a:pPr marL="342900" indent="-342900">
              <a:spcAft>
                <a:spcPts val="800"/>
              </a:spcAft>
              <a:buSzPct val="100000"/>
              <a:buChar char="•"/>
            </a:pPr>
            <a:r>
              <a:rPr lang="en-US" sz="1400" dirty="0">
                <a:solidFill>
                  <a:srgbClr val="DDEEE4"/>
                </a:solidFill>
                <a:latin typeface="Calibri" pitchFamily="34" charset="0"/>
                <a:ea typeface="Calibri" pitchFamily="34" charset="-122"/>
                <a:cs typeface="Calibri" pitchFamily="34" charset="-120"/>
              </a:rPr>
              <a:t>Traceability from trip to processing batch</a:t>
            </a:r>
            <a:endParaRPr lang="en-US" sz="1400" dirty="0"/>
          </a:p>
          <a:p>
            <a:pPr marL="342900" indent="-342900">
              <a:spcAft>
                <a:spcPts val="800"/>
              </a:spcAft>
              <a:buSzPct val="100000"/>
              <a:buChar char="•"/>
            </a:pPr>
            <a:r>
              <a:rPr lang="en-US" sz="1400" dirty="0">
                <a:solidFill>
                  <a:srgbClr val="DDEEE4"/>
                </a:solidFill>
                <a:latin typeface="Calibri" pitchFamily="34" charset="0"/>
                <a:ea typeface="Calibri" pitchFamily="34" charset="-122"/>
                <a:cs typeface="Calibri" pitchFamily="34" charset="-120"/>
              </a:rPr>
              <a:t>20 queries and ACID-safe transactions</a:t>
            </a:r>
            <a:endParaRPr lang="en-US" sz="1400" dirty="0"/>
          </a:p>
        </p:txBody>
      </p:sp>
      <p:sp>
        <p:nvSpPr>
          <p:cNvPr id="7" name="Shape 4"/>
          <p:cNvSpPr/>
          <p:nvPr/>
        </p:nvSpPr>
        <p:spPr>
          <a:xfrm>
            <a:off x="4663440" y="1234440"/>
            <a:ext cx="594360" cy="594360"/>
          </a:xfrm>
          <a:prstGeom prst="ellipse">
            <a:avLst/>
          </a:prstGeom>
          <a:solidFill>
            <a:srgbClr val="A8D84E"/>
          </a:solidFill>
          <a:ln w="12700">
            <a:solidFill>
              <a:srgbClr val="A8D84E"/>
            </a:solidFill>
            <a:prstDash val="solid"/>
          </a:ln>
        </p:spPr>
      </p:sp>
      <p:pic>
        <p:nvPicPr>
          <p:cNvPr id="8" name="Image 1" descr="preencoded.png">    </p:cNvPr>
          <p:cNvPicPr>
            <a:picLocks noChangeAspect="1"/>
          </p:cNvPicPr>
          <p:nvPr/>
        </p:nvPicPr>
        <p:blipFill>
          <a:blip r:embed="rId2"/>
          <a:stretch>
            <a:fillRect/>
          </a:stretch>
        </p:blipFill>
        <p:spPr>
          <a:xfrm>
            <a:off x="4812030" y="1383030"/>
            <a:ext cx="297180" cy="297180"/>
          </a:xfrm>
          <a:prstGeom prst="rect">
            <a:avLst/>
          </a:prstGeom>
        </p:spPr>
      </p:pic>
      <p:sp>
        <p:nvSpPr>
          <p:cNvPr id="9" name="Text 5"/>
          <p:cNvSpPr txBox="1"/>
          <p:nvPr/>
        </p:nvSpPr>
        <p:spPr>
          <a:xfrm>
            <a:off x="5440680" y="1325880"/>
            <a:ext cx="3108960" cy="411480"/>
          </a:xfrm>
          <a:prstGeom prst="rect">
            <a:avLst/>
          </a:prstGeom>
          <a:noFill/>
          <a:ln/>
        </p:spPr>
        <p:txBody>
          <a:bodyPr wrap="square" lIns="0" tIns="0" rIns="0" bIns="0" rtlCol="0" anchor="t"/>
          <a:lstStyle/>
          <a:p>
            <a:pPr indent="0" marL="0">
              <a:buNone/>
            </a:pPr>
            <a:r>
              <a:rPr lang="en-US" sz="2000" b="1" dirty="0">
                <a:solidFill>
                  <a:srgbClr val="A8D84E"/>
                </a:solidFill>
                <a:latin typeface="Cambria" pitchFamily="34" charset="0"/>
                <a:ea typeface="Cambria" pitchFamily="34" charset="-122"/>
                <a:cs typeface="Cambria" pitchFamily="34" charset="-120"/>
              </a:rPr>
              <a:t>Future scope</a:t>
            </a:r>
            <a:endParaRPr lang="en-US" sz="2000" dirty="0"/>
          </a:p>
        </p:txBody>
      </p:sp>
      <p:sp>
        <p:nvSpPr>
          <p:cNvPr id="10" name="Text 6"/>
          <p:cNvSpPr txBox="1"/>
          <p:nvPr/>
        </p:nvSpPr>
        <p:spPr>
          <a:xfrm>
            <a:off x="4754880" y="2057400"/>
            <a:ext cx="37490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DDEEE4"/>
                </a:solidFill>
                <a:latin typeface="Calibri" pitchFamily="34" charset="0"/>
                <a:ea typeface="Calibri" pitchFamily="34" charset="-122"/>
                <a:cs typeface="Calibri" pitchFamily="34" charset="-120"/>
              </a:rPr>
              <a:t>GPS tracking and route optimisation</a:t>
            </a:r>
            <a:endParaRPr lang="en-US" sz="1400" dirty="0"/>
          </a:p>
          <a:p>
            <a:pPr marL="342900" indent="-342900">
              <a:spcAft>
                <a:spcPts val="800"/>
              </a:spcAft>
              <a:buSzPct val="100000"/>
              <a:buChar char="•"/>
            </a:pPr>
            <a:r>
              <a:rPr lang="en-US" sz="1400" dirty="0">
                <a:solidFill>
                  <a:srgbClr val="DDEEE4"/>
                </a:solidFill>
                <a:latin typeface="Calibri" pitchFamily="34" charset="0"/>
                <a:ea typeface="Calibri" pitchFamily="34" charset="-122"/>
                <a:cs typeface="Calibri" pitchFamily="34" charset="-120"/>
              </a:rPr>
              <a:t>Real-time weighbridge feeds and a mobile app</a:t>
            </a:r>
            <a:endParaRPr lang="en-US" sz="1400" dirty="0"/>
          </a:p>
          <a:p>
            <a:pPr marL="342900" indent="-342900">
              <a:spcAft>
                <a:spcPts val="800"/>
              </a:spcAft>
              <a:buSzPct val="100000"/>
              <a:buChar char="•"/>
            </a:pPr>
            <a:r>
              <a:rPr lang="en-US" sz="1400" dirty="0">
                <a:solidFill>
                  <a:srgbClr val="DDEEE4"/>
                </a:solidFill>
                <a:latin typeface="Calibri" pitchFamily="34" charset="0"/>
                <a:ea typeface="Calibri" pitchFamily="34" charset="-122"/>
                <a:cs typeface="Calibri" pitchFamily="34" charset="-120"/>
              </a:rPr>
              <a:t>Multi-plant support and cost-per-trip analysis</a:t>
            </a:r>
            <a:endParaRPr lang="en-US" sz="1400" dirty="0"/>
          </a:p>
        </p:txBody>
      </p:sp>
      <p:sp>
        <p:nvSpPr>
          <p:cNvPr id="11" name="Text 7"/>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2000" i="1" dirty="0">
                <a:solidFill>
                  <a:srgbClr val="FFFFFF"/>
                </a:solidFill>
                <a:latin typeface="Cambria" pitchFamily="34" charset="0"/>
                <a:ea typeface="Cambria" pitchFamily="34" charset="-122"/>
                <a:cs typeface="Cambria" pitchFamily="34" charset="-120"/>
              </a:rPr>
              <a:t>Thank you —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Solid Waste Collection &amp; Recycling Plant DBMS</dc:title>
  <dc:subject>PptxGenJS Presentation</dc:subject>
  <dc:creator>PptxGenJS</dc:creator>
  <cp:lastModifiedBy>PptxGenJS</cp:lastModifiedBy>
  <cp:revision>1</cp:revision>
  <dcterms:created xsi:type="dcterms:W3CDTF">2026-09-22T16:59:01Z</dcterms:created>
  <dcterms:modified xsi:type="dcterms:W3CDTF">2026-09-22T16:59:01Z</dcterms:modified>
</cp:coreProperties>
</file>